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2103120"/>
          </a:xfrm>
          <a:prstGeom prst="rect">
            <a:avLst/>
          </a:prstGeom>
          <a:solidFill>
            <a:srgbClr val="031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961120" y="0"/>
            <a:ext cx="164592" cy="68580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235440" y="0"/>
            <a:ext cx="54864" cy="6858000"/>
          </a:xfrm>
          <a:prstGeom prst="rect">
            <a:avLst/>
          </a:prstGeom>
          <a:solidFill>
            <a:srgbClr val="0040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97280"/>
            <a:ext cx="8229600" cy="822960"/>
          </a:xfrm>
          <a:prstGeom prst="rect">
            <a:avLst/>
          </a:prstGeom>
          <a:noFill/>
        </p:spPr>
        <p:txBody>
          <a:bodyPr wrap="square">
            <a:spAutoFit/>
          </a:bodyPr>
          <a:lstStyle/>
          <a:p>
            <a:pPr algn="l"/>
            <a:r>
              <a:rPr sz="4200" b="1" i="0">
                <a:solidFill>
                  <a:srgbClr val="C0CFFF"/>
                </a:solidFill>
              </a:rPr>
              <a:t>IBM MQ</a:t>
            </a:r>
          </a:p>
        </p:txBody>
      </p:sp>
      <p:sp>
        <p:nvSpPr>
          <p:cNvPr id="7" name="TextBox 6"/>
          <p:cNvSpPr txBox="1"/>
          <p:nvPr/>
        </p:nvSpPr>
        <p:spPr>
          <a:xfrm>
            <a:off x="914400" y="1828800"/>
            <a:ext cx="8229600" cy="914400"/>
          </a:xfrm>
          <a:prstGeom prst="rect">
            <a:avLst/>
          </a:prstGeom>
          <a:noFill/>
        </p:spPr>
        <p:txBody>
          <a:bodyPr wrap="square">
            <a:spAutoFit/>
          </a:bodyPr>
          <a:lstStyle/>
          <a:p>
            <a:pPr algn="l"/>
            <a:r>
              <a:rPr sz="4800" b="1" i="0">
                <a:solidFill>
                  <a:srgbClr val="FFFFFF"/>
                </a:solidFill>
              </a:rPr>
              <a:t>インフラ疎通確認</a:t>
            </a:r>
          </a:p>
        </p:txBody>
      </p:sp>
      <p:sp>
        <p:nvSpPr>
          <p:cNvPr id="8" name="TextBox 7"/>
          <p:cNvSpPr txBox="1"/>
          <p:nvPr/>
        </p:nvSpPr>
        <p:spPr>
          <a:xfrm>
            <a:off x="914400" y="2743200"/>
            <a:ext cx="8229600" cy="548640"/>
          </a:xfrm>
          <a:prstGeom prst="rect">
            <a:avLst/>
          </a:prstGeom>
          <a:noFill/>
        </p:spPr>
        <p:txBody>
          <a:bodyPr wrap="square">
            <a:spAutoFit/>
          </a:bodyPr>
          <a:lstStyle/>
          <a:p>
            <a:pPr algn="l"/>
            <a:r>
              <a:rPr sz="2400" b="0" i="0">
                <a:solidFill>
                  <a:srgbClr val="C0CFFF"/>
                </a:solidFill>
              </a:rPr>
              <a:t>段取り・手順のご説明</a:t>
            </a:r>
          </a:p>
        </p:txBody>
      </p:sp>
      <p:sp>
        <p:nvSpPr>
          <p:cNvPr id="9" name="Rectangle 8"/>
          <p:cNvSpPr/>
          <p:nvPr/>
        </p:nvSpPr>
        <p:spPr>
          <a:xfrm>
            <a:off x="914400" y="3429000"/>
            <a:ext cx="4114800" cy="4572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657600"/>
            <a:ext cx="8229600" cy="457200"/>
          </a:xfrm>
          <a:prstGeom prst="rect">
            <a:avLst/>
          </a:prstGeom>
          <a:noFill/>
        </p:spPr>
        <p:txBody>
          <a:bodyPr wrap="square">
            <a:spAutoFit/>
          </a:bodyPr>
          <a:lstStyle/>
          <a:p>
            <a:pPr algn="l"/>
            <a:r>
              <a:rPr sz="1600" b="0" i="0">
                <a:solidFill>
                  <a:srgbClr val="B0BFFF"/>
                </a:solidFill>
              </a:rPr>
              <a:t>システム連携プロジェクト　2025年</a:t>
            </a:r>
          </a:p>
        </p:txBody>
      </p:sp>
      <p:sp>
        <p:nvSpPr>
          <p:cNvPr id="11" name="TextBox 10"/>
          <p:cNvSpPr txBox="1"/>
          <p:nvPr/>
        </p:nvSpPr>
        <p:spPr>
          <a:xfrm>
            <a:off x="914400" y="4114800"/>
            <a:ext cx="8229600" cy="411480"/>
          </a:xfrm>
          <a:prstGeom prst="rect">
            <a:avLst/>
          </a:prstGeom>
          <a:noFill/>
        </p:spPr>
        <p:txBody>
          <a:bodyPr wrap="square">
            <a:spAutoFit/>
          </a:bodyPr>
          <a:lstStyle/>
          <a:p>
            <a:pPr algn="l"/>
            <a:r>
              <a:rPr sz="1400" b="0" i="0">
                <a:solidFill>
                  <a:srgbClr val="90A8E8"/>
                </a:solidFill>
              </a:rPr>
              <a:t>インフラ担当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アジェンダ</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本日ご説明する内容</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Rectangle 8"/>
          <p:cNvSpPr/>
          <p:nvPr/>
        </p:nvSpPr>
        <p:spPr>
          <a:xfrm>
            <a:off x="457200" y="1463040"/>
            <a:ext cx="5394960" cy="685800"/>
          </a:xfrm>
          <a:prstGeom prst="rect">
            <a:avLst/>
          </a:prstGeom>
          <a:solidFill>
            <a:srgbClr val="FFFFFF"/>
          </a:solidFill>
          <a:ln w="1270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40"/>
            <a:ext cx="502920" cy="6858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1600200"/>
            <a:ext cx="411480" cy="411480"/>
          </a:xfrm>
          <a:prstGeom prst="rect">
            <a:avLst/>
          </a:prstGeom>
          <a:noFill/>
        </p:spPr>
        <p:txBody>
          <a:bodyPr wrap="square">
            <a:spAutoFit/>
          </a:bodyPr>
          <a:lstStyle/>
          <a:p>
            <a:pPr algn="ctr"/>
            <a:r>
              <a:rPr sz="1600" b="1" i="0">
                <a:solidFill>
                  <a:srgbClr val="FFFFFF"/>
                </a:solidFill>
              </a:rPr>
              <a:t>01</a:t>
            </a:r>
          </a:p>
        </p:txBody>
      </p:sp>
      <p:sp>
        <p:nvSpPr>
          <p:cNvPr id="12" name="TextBox 11"/>
          <p:cNvSpPr txBox="1"/>
          <p:nvPr/>
        </p:nvSpPr>
        <p:spPr>
          <a:xfrm>
            <a:off x="1051560" y="1527048"/>
            <a:ext cx="4663440" cy="320040"/>
          </a:xfrm>
          <a:prstGeom prst="rect">
            <a:avLst/>
          </a:prstGeom>
          <a:noFill/>
        </p:spPr>
        <p:txBody>
          <a:bodyPr wrap="square">
            <a:spAutoFit/>
          </a:bodyPr>
          <a:lstStyle/>
          <a:p>
            <a:pPr algn="l"/>
            <a:r>
              <a:rPr sz="1400" b="1" i="0">
                <a:solidFill>
                  <a:srgbClr val="161C2D"/>
                </a:solidFill>
              </a:rPr>
              <a:t>疎通確認の全体像</a:t>
            </a:r>
          </a:p>
        </p:txBody>
      </p:sp>
      <p:sp>
        <p:nvSpPr>
          <p:cNvPr id="13" name="TextBox 12"/>
          <p:cNvSpPr txBox="1"/>
          <p:nvPr/>
        </p:nvSpPr>
        <p:spPr>
          <a:xfrm>
            <a:off x="1051560" y="1847088"/>
            <a:ext cx="4663440" cy="256032"/>
          </a:xfrm>
          <a:prstGeom prst="rect">
            <a:avLst/>
          </a:prstGeom>
          <a:noFill/>
        </p:spPr>
        <p:txBody>
          <a:bodyPr wrap="square">
            <a:spAutoFit/>
          </a:bodyPr>
          <a:lstStyle/>
          <a:p>
            <a:pPr algn="l"/>
            <a:r>
              <a:rPr sz="1000" b="0" i="1">
                <a:solidFill>
                  <a:srgbClr val="697289"/>
                </a:solidFill>
              </a:rPr>
              <a:t>目的・フェーズ・担当分担</a:t>
            </a:r>
          </a:p>
        </p:txBody>
      </p:sp>
      <p:sp>
        <p:nvSpPr>
          <p:cNvPr id="14" name="Rectangle 13"/>
          <p:cNvSpPr/>
          <p:nvPr/>
        </p:nvSpPr>
        <p:spPr>
          <a:xfrm>
            <a:off x="457200" y="2286000"/>
            <a:ext cx="5394960" cy="685800"/>
          </a:xfrm>
          <a:prstGeom prst="rect">
            <a:avLst/>
          </a:prstGeom>
          <a:solidFill>
            <a:srgbClr val="FFFFFF"/>
          </a:solidFill>
          <a:ln w="1270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286000"/>
            <a:ext cx="502920" cy="6858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423160"/>
            <a:ext cx="411480" cy="411480"/>
          </a:xfrm>
          <a:prstGeom prst="rect">
            <a:avLst/>
          </a:prstGeom>
          <a:noFill/>
        </p:spPr>
        <p:txBody>
          <a:bodyPr wrap="square">
            <a:spAutoFit/>
          </a:bodyPr>
          <a:lstStyle/>
          <a:p>
            <a:pPr algn="ctr"/>
            <a:r>
              <a:rPr sz="1600" b="1" i="0">
                <a:solidFill>
                  <a:srgbClr val="FFFFFF"/>
                </a:solidFill>
              </a:rPr>
              <a:t>02</a:t>
            </a:r>
          </a:p>
        </p:txBody>
      </p:sp>
      <p:sp>
        <p:nvSpPr>
          <p:cNvPr id="17" name="TextBox 16"/>
          <p:cNvSpPr txBox="1"/>
          <p:nvPr/>
        </p:nvSpPr>
        <p:spPr>
          <a:xfrm>
            <a:off x="1051560" y="2350008"/>
            <a:ext cx="4663440" cy="320040"/>
          </a:xfrm>
          <a:prstGeom prst="rect">
            <a:avLst/>
          </a:prstGeom>
          <a:noFill/>
        </p:spPr>
        <p:txBody>
          <a:bodyPr wrap="square">
            <a:spAutoFit/>
          </a:bodyPr>
          <a:lstStyle/>
          <a:p>
            <a:pPr algn="l"/>
            <a:r>
              <a:rPr sz="1400" b="1" i="0">
                <a:solidFill>
                  <a:srgbClr val="161C2D"/>
                </a:solidFill>
              </a:rPr>
              <a:t>全体スケジュール</a:t>
            </a:r>
          </a:p>
        </p:txBody>
      </p:sp>
      <p:sp>
        <p:nvSpPr>
          <p:cNvPr id="18" name="TextBox 17"/>
          <p:cNvSpPr txBox="1"/>
          <p:nvPr/>
        </p:nvSpPr>
        <p:spPr>
          <a:xfrm>
            <a:off x="1051560" y="2670048"/>
            <a:ext cx="4663440" cy="256032"/>
          </a:xfrm>
          <a:prstGeom prst="rect">
            <a:avLst/>
          </a:prstGeom>
          <a:noFill/>
        </p:spPr>
        <p:txBody>
          <a:bodyPr wrap="square">
            <a:spAutoFit/>
          </a:bodyPr>
          <a:lstStyle/>
          <a:p>
            <a:pPr algn="l"/>
            <a:r>
              <a:rPr sz="1000" b="0" i="1">
                <a:solidFill>
                  <a:srgbClr val="697289"/>
                </a:solidFill>
              </a:rPr>
              <a:t>5月調整 → 6〜7月疎通実施</a:t>
            </a:r>
          </a:p>
        </p:txBody>
      </p:sp>
      <p:sp>
        <p:nvSpPr>
          <p:cNvPr id="19" name="Rectangle 18"/>
          <p:cNvSpPr/>
          <p:nvPr/>
        </p:nvSpPr>
        <p:spPr>
          <a:xfrm>
            <a:off x="457200" y="3108960"/>
            <a:ext cx="5394960" cy="685800"/>
          </a:xfrm>
          <a:prstGeom prst="rect">
            <a:avLst/>
          </a:prstGeom>
          <a:solidFill>
            <a:srgbClr val="FFFFFF"/>
          </a:solidFill>
          <a:ln w="1270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08960"/>
            <a:ext cx="502920" cy="6858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3246120"/>
            <a:ext cx="411480" cy="411480"/>
          </a:xfrm>
          <a:prstGeom prst="rect">
            <a:avLst/>
          </a:prstGeom>
          <a:noFill/>
        </p:spPr>
        <p:txBody>
          <a:bodyPr wrap="square">
            <a:spAutoFit/>
          </a:bodyPr>
          <a:lstStyle/>
          <a:p>
            <a:pPr algn="ctr"/>
            <a:r>
              <a:rPr sz="1600" b="1" i="0">
                <a:solidFill>
                  <a:srgbClr val="FFFFFF"/>
                </a:solidFill>
              </a:rPr>
              <a:t>03</a:t>
            </a:r>
          </a:p>
        </p:txBody>
      </p:sp>
      <p:sp>
        <p:nvSpPr>
          <p:cNvPr id="22" name="TextBox 21"/>
          <p:cNvSpPr txBox="1"/>
          <p:nvPr/>
        </p:nvSpPr>
        <p:spPr>
          <a:xfrm>
            <a:off x="1051560" y="3172968"/>
            <a:ext cx="4663440" cy="320040"/>
          </a:xfrm>
          <a:prstGeom prst="rect">
            <a:avLst/>
          </a:prstGeom>
          <a:noFill/>
        </p:spPr>
        <p:txBody>
          <a:bodyPr wrap="square">
            <a:spAutoFit/>
          </a:bodyPr>
          <a:lstStyle/>
          <a:p>
            <a:pPr algn="l"/>
            <a:r>
              <a:rPr sz="1400" b="1" i="0">
                <a:solidFill>
                  <a:srgbClr val="161C2D"/>
                </a:solidFill>
              </a:rPr>
              <a:t>事前準備（依頼事項）</a:t>
            </a:r>
          </a:p>
        </p:txBody>
      </p:sp>
      <p:sp>
        <p:nvSpPr>
          <p:cNvPr id="23" name="TextBox 22"/>
          <p:cNvSpPr txBox="1"/>
          <p:nvPr/>
        </p:nvSpPr>
        <p:spPr>
          <a:xfrm>
            <a:off x="1051560" y="3493008"/>
            <a:ext cx="4663440" cy="256032"/>
          </a:xfrm>
          <a:prstGeom prst="rect">
            <a:avLst/>
          </a:prstGeom>
          <a:noFill/>
        </p:spPr>
        <p:txBody>
          <a:bodyPr wrap="square">
            <a:spAutoFit/>
          </a:bodyPr>
          <a:lstStyle/>
          <a:p>
            <a:pPr algn="l"/>
            <a:r>
              <a:rPr sz="1000" b="0" i="1">
                <a:solidFill>
                  <a:srgbClr val="697289"/>
                </a:solidFill>
              </a:rPr>
              <a:t>対向システムへの情報提供依頼</a:t>
            </a:r>
          </a:p>
        </p:txBody>
      </p:sp>
      <p:sp>
        <p:nvSpPr>
          <p:cNvPr id="24" name="Rectangle 23"/>
          <p:cNvSpPr/>
          <p:nvPr/>
        </p:nvSpPr>
        <p:spPr>
          <a:xfrm>
            <a:off x="6309360" y="1463040"/>
            <a:ext cx="5394960" cy="685800"/>
          </a:xfrm>
          <a:prstGeom prst="rect">
            <a:avLst/>
          </a:prstGeom>
          <a:solidFill>
            <a:srgbClr val="FFFFFF"/>
          </a:solidFill>
          <a:ln w="1270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463040"/>
            <a:ext cx="502920" cy="6858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1600200"/>
            <a:ext cx="411480" cy="411480"/>
          </a:xfrm>
          <a:prstGeom prst="rect">
            <a:avLst/>
          </a:prstGeom>
          <a:noFill/>
        </p:spPr>
        <p:txBody>
          <a:bodyPr wrap="square">
            <a:spAutoFit/>
          </a:bodyPr>
          <a:lstStyle/>
          <a:p>
            <a:pPr algn="ctr"/>
            <a:r>
              <a:rPr sz="1600" b="1" i="0">
                <a:solidFill>
                  <a:srgbClr val="FFFFFF"/>
                </a:solidFill>
              </a:rPr>
              <a:t>04</a:t>
            </a:r>
          </a:p>
        </p:txBody>
      </p:sp>
      <p:sp>
        <p:nvSpPr>
          <p:cNvPr id="27" name="TextBox 26"/>
          <p:cNvSpPr txBox="1"/>
          <p:nvPr/>
        </p:nvSpPr>
        <p:spPr>
          <a:xfrm>
            <a:off x="6903720" y="1527048"/>
            <a:ext cx="4663440" cy="320040"/>
          </a:xfrm>
          <a:prstGeom prst="rect">
            <a:avLst/>
          </a:prstGeom>
          <a:noFill/>
        </p:spPr>
        <p:txBody>
          <a:bodyPr wrap="square">
            <a:spAutoFit/>
          </a:bodyPr>
          <a:lstStyle/>
          <a:p>
            <a:pPr algn="l"/>
            <a:r>
              <a:rPr sz="1400" b="1" i="0">
                <a:solidFill>
                  <a:srgbClr val="161C2D"/>
                </a:solidFill>
              </a:rPr>
              <a:t>疎通確認 手順詳細</a:t>
            </a:r>
          </a:p>
        </p:txBody>
      </p:sp>
      <p:sp>
        <p:nvSpPr>
          <p:cNvPr id="28" name="TextBox 27"/>
          <p:cNvSpPr txBox="1"/>
          <p:nvPr/>
        </p:nvSpPr>
        <p:spPr>
          <a:xfrm>
            <a:off x="6903720" y="1847088"/>
            <a:ext cx="4663440" cy="256032"/>
          </a:xfrm>
          <a:prstGeom prst="rect">
            <a:avLst/>
          </a:prstGeom>
          <a:noFill/>
        </p:spPr>
        <p:txBody>
          <a:bodyPr wrap="square">
            <a:spAutoFit/>
          </a:bodyPr>
          <a:lstStyle/>
          <a:p>
            <a:pPr algn="l"/>
            <a:r>
              <a:rPr sz="1000" b="0" i="1">
                <a:solidFill>
                  <a:srgbClr val="697289"/>
                </a:solidFill>
              </a:rPr>
              <a:t>3フェーズの実施手順</a:t>
            </a:r>
          </a:p>
        </p:txBody>
      </p:sp>
      <p:sp>
        <p:nvSpPr>
          <p:cNvPr id="29" name="Rectangle 28"/>
          <p:cNvSpPr/>
          <p:nvPr/>
        </p:nvSpPr>
        <p:spPr>
          <a:xfrm>
            <a:off x="6309360" y="2286000"/>
            <a:ext cx="5394960" cy="685800"/>
          </a:xfrm>
          <a:prstGeom prst="rect">
            <a:avLst/>
          </a:prstGeom>
          <a:solidFill>
            <a:srgbClr val="FFFFFF"/>
          </a:solidFill>
          <a:ln w="1270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2286000"/>
            <a:ext cx="502920" cy="6858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2423160"/>
            <a:ext cx="411480" cy="411480"/>
          </a:xfrm>
          <a:prstGeom prst="rect">
            <a:avLst/>
          </a:prstGeom>
          <a:noFill/>
        </p:spPr>
        <p:txBody>
          <a:bodyPr wrap="square">
            <a:spAutoFit/>
          </a:bodyPr>
          <a:lstStyle/>
          <a:p>
            <a:pPr algn="ctr"/>
            <a:r>
              <a:rPr sz="1600" b="1" i="0">
                <a:solidFill>
                  <a:srgbClr val="FFFFFF"/>
                </a:solidFill>
              </a:rPr>
              <a:t>05</a:t>
            </a:r>
          </a:p>
        </p:txBody>
      </p:sp>
      <p:sp>
        <p:nvSpPr>
          <p:cNvPr id="32" name="TextBox 31"/>
          <p:cNvSpPr txBox="1"/>
          <p:nvPr/>
        </p:nvSpPr>
        <p:spPr>
          <a:xfrm>
            <a:off x="6903720" y="2350008"/>
            <a:ext cx="4663440" cy="320040"/>
          </a:xfrm>
          <a:prstGeom prst="rect">
            <a:avLst/>
          </a:prstGeom>
          <a:noFill/>
        </p:spPr>
        <p:txBody>
          <a:bodyPr wrap="square">
            <a:spAutoFit/>
          </a:bodyPr>
          <a:lstStyle/>
          <a:p>
            <a:pPr algn="l"/>
            <a:r>
              <a:rPr sz="1400" b="1" i="0">
                <a:solidFill>
                  <a:srgbClr val="161C2D"/>
                </a:solidFill>
              </a:rPr>
              <a:t>エビデンス・完了基準</a:t>
            </a:r>
          </a:p>
        </p:txBody>
      </p:sp>
      <p:sp>
        <p:nvSpPr>
          <p:cNvPr id="33" name="TextBox 32"/>
          <p:cNvSpPr txBox="1"/>
          <p:nvPr/>
        </p:nvSpPr>
        <p:spPr>
          <a:xfrm>
            <a:off x="6903720" y="2670048"/>
            <a:ext cx="4663440" cy="256032"/>
          </a:xfrm>
          <a:prstGeom prst="rect">
            <a:avLst/>
          </a:prstGeom>
          <a:noFill/>
        </p:spPr>
        <p:txBody>
          <a:bodyPr wrap="square">
            <a:spAutoFit/>
          </a:bodyPr>
          <a:lstStyle/>
          <a:p>
            <a:pPr algn="l"/>
            <a:r>
              <a:rPr sz="1000" b="0" i="1">
                <a:solidFill>
                  <a:srgbClr val="697289"/>
                </a:solidFill>
              </a:rPr>
              <a:t>記録方法・合否判定</a:t>
            </a:r>
          </a:p>
        </p:txBody>
      </p:sp>
      <p:sp>
        <p:nvSpPr>
          <p:cNvPr id="34" name="Rectangle 33"/>
          <p:cNvSpPr/>
          <p:nvPr/>
        </p:nvSpPr>
        <p:spPr>
          <a:xfrm>
            <a:off x="6309360" y="3108960"/>
            <a:ext cx="5394960" cy="685800"/>
          </a:xfrm>
          <a:prstGeom prst="rect">
            <a:avLst/>
          </a:prstGeom>
          <a:solidFill>
            <a:srgbClr val="FFFFFF"/>
          </a:solidFill>
          <a:ln w="1270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3108960"/>
            <a:ext cx="502920" cy="6858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64224" y="3246120"/>
            <a:ext cx="411480" cy="411480"/>
          </a:xfrm>
          <a:prstGeom prst="rect">
            <a:avLst/>
          </a:prstGeom>
          <a:noFill/>
        </p:spPr>
        <p:txBody>
          <a:bodyPr wrap="square">
            <a:spAutoFit/>
          </a:bodyPr>
          <a:lstStyle/>
          <a:p>
            <a:pPr algn="ctr"/>
            <a:r>
              <a:rPr sz="1600" b="1" i="0">
                <a:solidFill>
                  <a:srgbClr val="FFFFFF"/>
                </a:solidFill>
              </a:rPr>
              <a:t>06</a:t>
            </a:r>
          </a:p>
        </p:txBody>
      </p:sp>
      <p:sp>
        <p:nvSpPr>
          <p:cNvPr id="37" name="TextBox 36"/>
          <p:cNvSpPr txBox="1"/>
          <p:nvPr/>
        </p:nvSpPr>
        <p:spPr>
          <a:xfrm>
            <a:off x="6903720" y="3172968"/>
            <a:ext cx="4663440" cy="320040"/>
          </a:xfrm>
          <a:prstGeom prst="rect">
            <a:avLst/>
          </a:prstGeom>
          <a:noFill/>
        </p:spPr>
        <p:txBody>
          <a:bodyPr wrap="square">
            <a:spAutoFit/>
          </a:bodyPr>
          <a:lstStyle/>
          <a:p>
            <a:pPr algn="l"/>
            <a:r>
              <a:rPr sz="1400" b="1" i="0">
                <a:solidFill>
                  <a:srgbClr val="161C2D"/>
                </a:solidFill>
              </a:rPr>
              <a:t>エラー発生時の対応</a:t>
            </a:r>
          </a:p>
        </p:txBody>
      </p:sp>
      <p:sp>
        <p:nvSpPr>
          <p:cNvPr id="38" name="TextBox 37"/>
          <p:cNvSpPr txBox="1"/>
          <p:nvPr/>
        </p:nvSpPr>
        <p:spPr>
          <a:xfrm>
            <a:off x="6903720" y="3493008"/>
            <a:ext cx="4663440" cy="256032"/>
          </a:xfrm>
          <a:prstGeom prst="rect">
            <a:avLst/>
          </a:prstGeom>
          <a:noFill/>
        </p:spPr>
        <p:txBody>
          <a:bodyPr wrap="square">
            <a:spAutoFit/>
          </a:bodyPr>
          <a:lstStyle/>
          <a:p>
            <a:pPr algn="l"/>
            <a:r>
              <a:rPr sz="1000" b="0" i="1">
                <a:solidFill>
                  <a:srgbClr val="697289"/>
                </a:solidFill>
              </a:rPr>
              <a:t>切り分けフロー・ログ確認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疎通確認の全体像</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目的・フェーズ・担当分担</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TextBox 8"/>
          <p:cNvSpPr txBox="1"/>
          <p:nvPr/>
        </p:nvSpPr>
        <p:spPr>
          <a:xfrm>
            <a:off x="457200" y="1417320"/>
            <a:ext cx="10972800" cy="365760"/>
          </a:xfrm>
          <a:prstGeom prst="rect">
            <a:avLst/>
          </a:prstGeom>
          <a:noFill/>
        </p:spPr>
        <p:txBody>
          <a:bodyPr wrap="square">
            <a:spAutoFit/>
          </a:bodyPr>
          <a:lstStyle/>
          <a:p>
            <a:pPr algn="l"/>
            <a:r>
              <a:rPr sz="1300" b="0" i="0">
                <a:solidFill>
                  <a:srgbClr val="161C2D"/>
                </a:solidFill>
              </a:rPr>
              <a:t>疎通確認はアプリ開発なしでインフラ担当レベルのみで実施します。</a:t>
            </a:r>
          </a:p>
        </p:txBody>
      </p:sp>
      <p:sp>
        <p:nvSpPr>
          <p:cNvPr id="10" name="Rectangle 9"/>
          <p:cNvSpPr/>
          <p:nvPr/>
        </p:nvSpPr>
        <p:spPr>
          <a:xfrm>
            <a:off x="640080" y="1874519"/>
            <a:ext cx="3291840" cy="292608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057400"/>
            <a:ext cx="301752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874519"/>
            <a:ext cx="3291840" cy="50292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892807"/>
            <a:ext cx="3017520" cy="384048"/>
          </a:xfrm>
          <a:prstGeom prst="rect">
            <a:avLst/>
          </a:prstGeom>
          <a:noFill/>
        </p:spPr>
        <p:txBody>
          <a:bodyPr wrap="square">
            <a:spAutoFit/>
          </a:bodyPr>
          <a:lstStyle/>
          <a:p>
            <a:pPr algn="ctr"/>
            <a:r>
              <a:rPr sz="1400" b="1" i="0">
                <a:solidFill>
                  <a:srgbClr val="FFFFFF"/>
                </a:solidFill>
              </a:rPr>
              <a:t>フェーズ ①</a:t>
            </a:r>
          </a:p>
        </p:txBody>
      </p:sp>
      <p:sp>
        <p:nvSpPr>
          <p:cNvPr id="14" name="TextBox 13"/>
          <p:cNvSpPr txBox="1"/>
          <p:nvPr/>
        </p:nvSpPr>
        <p:spPr>
          <a:xfrm>
            <a:off x="777240" y="2423160"/>
            <a:ext cx="3017520" cy="822960"/>
          </a:xfrm>
          <a:prstGeom prst="rect">
            <a:avLst/>
          </a:prstGeom>
          <a:noFill/>
        </p:spPr>
        <p:txBody>
          <a:bodyPr wrap="square">
            <a:spAutoFit/>
          </a:bodyPr>
          <a:lstStyle/>
          <a:p>
            <a:pPr algn="ctr"/>
            <a:r>
              <a:rPr sz="1800" b="1" i="0">
                <a:solidFill>
                  <a:srgbClr val="0062FF"/>
                </a:solidFill>
              </a:rPr>
              <a:t>ネットワーク
疎通確認</a:t>
            </a:r>
          </a:p>
        </p:txBody>
      </p:sp>
      <p:sp>
        <p:nvSpPr>
          <p:cNvPr id="15" name="TextBox 14"/>
          <p:cNvSpPr txBox="1"/>
          <p:nvPr/>
        </p:nvSpPr>
        <p:spPr>
          <a:xfrm>
            <a:off x="822959" y="3246120"/>
            <a:ext cx="2926080" cy="822960"/>
          </a:xfrm>
          <a:prstGeom prst="rect">
            <a:avLst/>
          </a:prstGeom>
          <a:noFill/>
        </p:spPr>
        <p:txBody>
          <a:bodyPr wrap="square">
            <a:spAutoFit/>
          </a:bodyPr>
          <a:lstStyle/>
          <a:p>
            <a:pPr algn="ctr"/>
            <a:r>
              <a:rPr sz="1200" b="0" i="0">
                <a:solidFill>
                  <a:srgbClr val="161C2D"/>
                </a:solidFill>
              </a:rPr>
              <a:t>ping / telnet / nc
でポートへの到達確認</a:t>
            </a:r>
          </a:p>
        </p:txBody>
      </p:sp>
      <p:sp>
        <p:nvSpPr>
          <p:cNvPr id="16" name="Rectangle 15"/>
          <p:cNvSpPr/>
          <p:nvPr/>
        </p:nvSpPr>
        <p:spPr>
          <a:xfrm>
            <a:off x="3977639" y="3063240"/>
            <a:ext cx="320040" cy="274320"/>
          </a:xfrm>
          <a:prstGeom prst="rect">
            <a:avLst/>
          </a:prstGeom>
          <a:solidFill>
            <a:srgbClr val="6972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14215" y="3017520"/>
            <a:ext cx="274320" cy="347472"/>
          </a:xfrm>
          <a:prstGeom prst="rect">
            <a:avLst/>
          </a:prstGeom>
          <a:noFill/>
        </p:spPr>
        <p:txBody>
          <a:bodyPr wrap="square">
            <a:spAutoFit/>
          </a:bodyPr>
          <a:lstStyle/>
          <a:p>
            <a:pPr algn="ctr"/>
            <a:r>
              <a:rPr sz="1400" b="0" i="0">
                <a:solidFill>
                  <a:srgbClr val="FFFFFF"/>
                </a:solidFill>
              </a:rPr>
              <a:t>▶</a:t>
            </a:r>
          </a:p>
        </p:txBody>
      </p:sp>
      <p:sp>
        <p:nvSpPr>
          <p:cNvPr id="18" name="Rectangle 17"/>
          <p:cNvSpPr/>
          <p:nvPr/>
        </p:nvSpPr>
        <p:spPr>
          <a:xfrm>
            <a:off x="4389120" y="1874519"/>
            <a:ext cx="3291840" cy="2926080"/>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26280" y="2057400"/>
            <a:ext cx="301752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0" y="1874519"/>
            <a:ext cx="3291840" cy="502920"/>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26280" y="1892807"/>
            <a:ext cx="3017520" cy="384048"/>
          </a:xfrm>
          <a:prstGeom prst="rect">
            <a:avLst/>
          </a:prstGeom>
          <a:noFill/>
        </p:spPr>
        <p:txBody>
          <a:bodyPr wrap="square">
            <a:spAutoFit/>
          </a:bodyPr>
          <a:lstStyle/>
          <a:p>
            <a:pPr algn="ctr"/>
            <a:r>
              <a:rPr sz="1400" b="1" i="0">
                <a:solidFill>
                  <a:srgbClr val="FFFFFF"/>
                </a:solidFill>
              </a:rPr>
              <a:t>フェーズ ②</a:t>
            </a:r>
          </a:p>
        </p:txBody>
      </p:sp>
      <p:sp>
        <p:nvSpPr>
          <p:cNvPr id="22" name="TextBox 21"/>
          <p:cNvSpPr txBox="1"/>
          <p:nvPr/>
        </p:nvSpPr>
        <p:spPr>
          <a:xfrm>
            <a:off x="4526280" y="2423160"/>
            <a:ext cx="3017520" cy="822960"/>
          </a:xfrm>
          <a:prstGeom prst="rect">
            <a:avLst/>
          </a:prstGeom>
          <a:noFill/>
        </p:spPr>
        <p:txBody>
          <a:bodyPr wrap="square">
            <a:spAutoFit/>
          </a:bodyPr>
          <a:lstStyle/>
          <a:p>
            <a:pPr algn="ctr"/>
            <a:r>
              <a:rPr sz="1800" b="1" i="0">
                <a:solidFill>
                  <a:srgbClr val="0082C8"/>
                </a:solidFill>
              </a:rPr>
              <a:t>MQ接続
確認</a:t>
            </a:r>
          </a:p>
        </p:txBody>
      </p:sp>
      <p:sp>
        <p:nvSpPr>
          <p:cNvPr id="23" name="TextBox 22"/>
          <p:cNvSpPr txBox="1"/>
          <p:nvPr/>
        </p:nvSpPr>
        <p:spPr>
          <a:xfrm>
            <a:off x="4572000" y="3246120"/>
            <a:ext cx="2926080" cy="822960"/>
          </a:xfrm>
          <a:prstGeom prst="rect">
            <a:avLst/>
          </a:prstGeom>
          <a:noFill/>
        </p:spPr>
        <p:txBody>
          <a:bodyPr wrap="square">
            <a:spAutoFit/>
          </a:bodyPr>
          <a:lstStyle/>
          <a:p>
            <a:pPr algn="ctr"/>
            <a:r>
              <a:rPr sz="1200" b="0" i="0">
                <a:solidFill>
                  <a:srgbClr val="161C2D"/>
                </a:solidFill>
              </a:rPr>
              <a:t>Channel接続確立
QueueManagerへの接続</a:t>
            </a:r>
          </a:p>
        </p:txBody>
      </p:sp>
      <p:sp>
        <p:nvSpPr>
          <p:cNvPr id="24" name="Rectangle 23"/>
          <p:cNvSpPr/>
          <p:nvPr/>
        </p:nvSpPr>
        <p:spPr>
          <a:xfrm>
            <a:off x="7726679" y="3063240"/>
            <a:ext cx="320040" cy="274320"/>
          </a:xfrm>
          <a:prstGeom prst="rect">
            <a:avLst/>
          </a:prstGeom>
          <a:solidFill>
            <a:srgbClr val="6972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63255" y="3017520"/>
            <a:ext cx="274320" cy="347472"/>
          </a:xfrm>
          <a:prstGeom prst="rect">
            <a:avLst/>
          </a:prstGeom>
          <a:noFill/>
        </p:spPr>
        <p:txBody>
          <a:bodyPr wrap="square">
            <a:spAutoFit/>
          </a:bodyPr>
          <a:lstStyle/>
          <a:p>
            <a:pPr algn="ctr"/>
            <a:r>
              <a:rPr sz="1400" b="0" i="0">
                <a:solidFill>
                  <a:srgbClr val="FFFFFF"/>
                </a:solidFill>
              </a:rPr>
              <a:t>▶</a:t>
            </a:r>
          </a:p>
        </p:txBody>
      </p:sp>
      <p:sp>
        <p:nvSpPr>
          <p:cNvPr id="26" name="Rectangle 25"/>
          <p:cNvSpPr/>
          <p:nvPr/>
        </p:nvSpPr>
        <p:spPr>
          <a:xfrm>
            <a:off x="8138159" y="1874519"/>
            <a:ext cx="3291840" cy="292608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75319" y="2057400"/>
            <a:ext cx="301752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59" y="1874519"/>
            <a:ext cx="3291840" cy="50292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19" y="1892807"/>
            <a:ext cx="3017520" cy="384048"/>
          </a:xfrm>
          <a:prstGeom prst="rect">
            <a:avLst/>
          </a:prstGeom>
          <a:noFill/>
        </p:spPr>
        <p:txBody>
          <a:bodyPr wrap="square">
            <a:spAutoFit/>
          </a:bodyPr>
          <a:lstStyle/>
          <a:p>
            <a:pPr algn="ctr"/>
            <a:r>
              <a:rPr sz="1400" b="1" i="0">
                <a:solidFill>
                  <a:srgbClr val="FFFFFF"/>
                </a:solidFill>
              </a:rPr>
              <a:t>フェーズ ③</a:t>
            </a:r>
          </a:p>
        </p:txBody>
      </p:sp>
      <p:sp>
        <p:nvSpPr>
          <p:cNvPr id="30" name="TextBox 29"/>
          <p:cNvSpPr txBox="1"/>
          <p:nvPr/>
        </p:nvSpPr>
        <p:spPr>
          <a:xfrm>
            <a:off x="8275319" y="2423160"/>
            <a:ext cx="3017520" cy="822960"/>
          </a:xfrm>
          <a:prstGeom prst="rect">
            <a:avLst/>
          </a:prstGeom>
          <a:noFill/>
        </p:spPr>
        <p:txBody>
          <a:bodyPr wrap="square">
            <a:spAutoFit/>
          </a:bodyPr>
          <a:lstStyle/>
          <a:p>
            <a:pPr algn="ctr"/>
            <a:r>
              <a:rPr sz="1800" b="1" i="0">
                <a:solidFill>
                  <a:srgbClr val="24A148"/>
                </a:solidFill>
              </a:rPr>
              <a:t>メッセージ
送受信確認</a:t>
            </a:r>
          </a:p>
        </p:txBody>
      </p:sp>
      <p:sp>
        <p:nvSpPr>
          <p:cNvPr id="31" name="TextBox 30"/>
          <p:cNvSpPr txBox="1"/>
          <p:nvPr/>
        </p:nvSpPr>
        <p:spPr>
          <a:xfrm>
            <a:off x="8321039" y="3246120"/>
            <a:ext cx="2926080" cy="822960"/>
          </a:xfrm>
          <a:prstGeom prst="rect">
            <a:avLst/>
          </a:prstGeom>
          <a:noFill/>
        </p:spPr>
        <p:txBody>
          <a:bodyPr wrap="square">
            <a:spAutoFit/>
          </a:bodyPr>
          <a:lstStyle/>
          <a:p>
            <a:pPr algn="ctr"/>
            <a:r>
              <a:rPr sz="1200" b="0" i="0">
                <a:solidFill>
                  <a:srgbClr val="161C2D"/>
                </a:solidFill>
              </a:rPr>
              <a:t>amqsput / amqsget
によるテストメッセージ</a:t>
            </a:r>
          </a:p>
        </p:txBody>
      </p:sp>
      <p:sp>
        <p:nvSpPr>
          <p:cNvPr id="32" name="Rectangle 31"/>
          <p:cNvSpPr/>
          <p:nvPr/>
        </p:nvSpPr>
        <p:spPr>
          <a:xfrm>
            <a:off x="457200" y="4983480"/>
            <a:ext cx="11247120" cy="82296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5047488"/>
            <a:ext cx="10972800" cy="685800"/>
          </a:xfrm>
          <a:prstGeom prst="rect">
            <a:avLst/>
          </a:prstGeom>
          <a:noFill/>
        </p:spPr>
        <p:txBody>
          <a:bodyPr wrap="square">
            <a:spAutoFit/>
          </a:bodyPr>
          <a:lstStyle/>
          <a:p>
            <a:pPr algn="l"/>
            <a:r>
              <a:rPr sz="1200" b="0" i="0">
                <a:solidFill>
                  <a:srgbClr val="161C2D"/>
                </a:solidFill>
              </a:rPr>
              <a:t>【担当分担】　①ネットワーク疎通：双方のインフラ担当が連携して確認  ／  ②③ MQ接続・メッセージ確認：こちら（新規側）インフラ担当が主導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全体スケジュール</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2025年5月〜7月</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Rectangle 8"/>
          <p:cNvSpPr/>
          <p:nvPr/>
        </p:nvSpPr>
        <p:spPr>
          <a:xfrm>
            <a:off x="3200400" y="1463040"/>
            <a:ext cx="2804160" cy="45720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508760"/>
            <a:ext cx="2804160" cy="365760"/>
          </a:xfrm>
          <a:prstGeom prst="rect">
            <a:avLst/>
          </a:prstGeom>
          <a:noFill/>
        </p:spPr>
        <p:txBody>
          <a:bodyPr wrap="square">
            <a:spAutoFit/>
          </a:bodyPr>
          <a:lstStyle/>
          <a:p>
            <a:pPr algn="ctr"/>
            <a:r>
              <a:rPr sz="1600" b="1" i="0">
                <a:solidFill>
                  <a:srgbClr val="FFFFFF"/>
                </a:solidFill>
              </a:rPr>
              <a:t>5月</a:t>
            </a:r>
          </a:p>
        </p:txBody>
      </p:sp>
      <p:sp>
        <p:nvSpPr>
          <p:cNvPr id="11" name="Rectangle 10"/>
          <p:cNvSpPr/>
          <p:nvPr/>
        </p:nvSpPr>
        <p:spPr>
          <a:xfrm>
            <a:off x="3200400" y="1920240"/>
            <a:ext cx="2804160" cy="3931920"/>
          </a:xfrm>
          <a:prstGeom prst="rect">
            <a:avLst/>
          </a:prstGeom>
          <a:solidFill>
            <a:srgbClr val="E8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04560" y="1463040"/>
            <a:ext cx="2804160" cy="45720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04560" y="1508760"/>
            <a:ext cx="2804160" cy="365760"/>
          </a:xfrm>
          <a:prstGeom prst="rect">
            <a:avLst/>
          </a:prstGeom>
          <a:noFill/>
        </p:spPr>
        <p:txBody>
          <a:bodyPr wrap="square">
            <a:spAutoFit/>
          </a:bodyPr>
          <a:lstStyle/>
          <a:p>
            <a:pPr algn="ctr"/>
            <a:r>
              <a:rPr sz="1600" b="1" i="0">
                <a:solidFill>
                  <a:srgbClr val="FFFFFF"/>
                </a:solidFill>
              </a:rPr>
              <a:t>6月</a:t>
            </a:r>
          </a:p>
        </p:txBody>
      </p:sp>
      <p:sp>
        <p:nvSpPr>
          <p:cNvPr id="14" name="Rectangle 13"/>
          <p:cNvSpPr/>
          <p:nvPr/>
        </p:nvSpPr>
        <p:spPr>
          <a:xfrm>
            <a:off x="6004560" y="1920240"/>
            <a:ext cx="2804160" cy="3931920"/>
          </a:xfrm>
          <a:prstGeom prst="rect">
            <a:avLst/>
          </a:prstGeom>
          <a:solidFill>
            <a:srgbClr val="D6E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808720" y="1463040"/>
            <a:ext cx="2804160" cy="45720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08720" y="1508760"/>
            <a:ext cx="2804160" cy="365760"/>
          </a:xfrm>
          <a:prstGeom prst="rect">
            <a:avLst/>
          </a:prstGeom>
          <a:noFill/>
        </p:spPr>
        <p:txBody>
          <a:bodyPr wrap="square">
            <a:spAutoFit/>
          </a:bodyPr>
          <a:lstStyle/>
          <a:p>
            <a:pPr algn="ctr"/>
            <a:r>
              <a:rPr sz="1600" b="1" i="0">
                <a:solidFill>
                  <a:srgbClr val="FFFFFF"/>
                </a:solidFill>
              </a:rPr>
              <a:t>7月</a:t>
            </a:r>
          </a:p>
        </p:txBody>
      </p:sp>
      <p:sp>
        <p:nvSpPr>
          <p:cNvPr id="17" name="Rectangle 16"/>
          <p:cNvSpPr/>
          <p:nvPr/>
        </p:nvSpPr>
        <p:spPr>
          <a:xfrm>
            <a:off x="8808720" y="1920240"/>
            <a:ext cx="2804160" cy="3931920"/>
          </a:xfrm>
          <a:prstGeom prst="rect">
            <a:avLst/>
          </a:prstGeom>
          <a:solidFill>
            <a:srgbClr val="C6D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04560" y="1920240"/>
            <a:ext cx="13716" cy="3931920"/>
          </a:xfrm>
          <a:prstGeom prst="rect">
            <a:avLst/>
          </a:prstGeom>
          <a:solidFill>
            <a:srgbClr val="B0B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08720" y="1920240"/>
            <a:ext cx="13716" cy="3931920"/>
          </a:xfrm>
          <a:prstGeom prst="rect">
            <a:avLst/>
          </a:prstGeom>
          <a:solidFill>
            <a:srgbClr val="B0B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1920240"/>
            <a:ext cx="2834640" cy="786384"/>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1938528"/>
            <a:ext cx="2651760" cy="731520"/>
          </a:xfrm>
          <a:prstGeom prst="rect">
            <a:avLst/>
          </a:prstGeom>
          <a:noFill/>
        </p:spPr>
        <p:txBody>
          <a:bodyPr wrap="square">
            <a:spAutoFit/>
          </a:bodyPr>
          <a:lstStyle/>
          <a:p>
            <a:pPr algn="l"/>
            <a:r>
              <a:rPr sz="1050" b="1" i="0">
                <a:solidFill>
                  <a:srgbClr val="161C2D"/>
                </a:solidFill>
              </a:rPr>
              <a:t>接続パラメータ
情報収集</a:t>
            </a:r>
          </a:p>
        </p:txBody>
      </p:sp>
      <p:sp>
        <p:nvSpPr>
          <p:cNvPr id="22" name="Rectangle 21"/>
          <p:cNvSpPr/>
          <p:nvPr/>
        </p:nvSpPr>
        <p:spPr>
          <a:xfrm>
            <a:off x="182880" y="2706624"/>
            <a:ext cx="2834640" cy="786384"/>
          </a:xfrm>
          <a:prstGeom prst="rect">
            <a:avLst/>
          </a:prstGeom>
          <a:solidFill>
            <a:srgbClr val="F8F9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2724912"/>
            <a:ext cx="2651760" cy="731520"/>
          </a:xfrm>
          <a:prstGeom prst="rect">
            <a:avLst/>
          </a:prstGeom>
          <a:noFill/>
        </p:spPr>
        <p:txBody>
          <a:bodyPr wrap="square">
            <a:spAutoFit/>
          </a:bodyPr>
          <a:lstStyle/>
          <a:p>
            <a:pPr algn="l"/>
            <a:r>
              <a:rPr sz="1050" b="1" i="0">
                <a:solidFill>
                  <a:srgbClr val="161C2D"/>
                </a:solidFill>
              </a:rPr>
              <a:t>ファイアウォール
開放申請</a:t>
            </a:r>
          </a:p>
        </p:txBody>
      </p:sp>
      <p:sp>
        <p:nvSpPr>
          <p:cNvPr id="24" name="Rectangle 23"/>
          <p:cNvSpPr/>
          <p:nvPr/>
        </p:nvSpPr>
        <p:spPr>
          <a:xfrm>
            <a:off x="182880" y="3493008"/>
            <a:ext cx="2834640" cy="786384"/>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511296"/>
            <a:ext cx="2651760" cy="731520"/>
          </a:xfrm>
          <a:prstGeom prst="rect">
            <a:avLst/>
          </a:prstGeom>
          <a:noFill/>
        </p:spPr>
        <p:txBody>
          <a:bodyPr wrap="square">
            <a:spAutoFit/>
          </a:bodyPr>
          <a:lstStyle/>
          <a:p>
            <a:pPr algn="l"/>
            <a:r>
              <a:rPr sz="1050" b="1" i="0">
                <a:solidFill>
                  <a:srgbClr val="161C2D"/>
                </a:solidFill>
              </a:rPr>
              <a:t>MQ環境構築
（新規側）</a:t>
            </a:r>
          </a:p>
        </p:txBody>
      </p:sp>
      <p:sp>
        <p:nvSpPr>
          <p:cNvPr id="26" name="Rectangle 25"/>
          <p:cNvSpPr/>
          <p:nvPr/>
        </p:nvSpPr>
        <p:spPr>
          <a:xfrm>
            <a:off x="182880" y="4279392"/>
            <a:ext cx="2834640" cy="786384"/>
          </a:xfrm>
          <a:prstGeom prst="rect">
            <a:avLst/>
          </a:prstGeom>
          <a:solidFill>
            <a:srgbClr val="F8F9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4297679"/>
            <a:ext cx="2651760" cy="731520"/>
          </a:xfrm>
          <a:prstGeom prst="rect">
            <a:avLst/>
          </a:prstGeom>
          <a:noFill/>
        </p:spPr>
        <p:txBody>
          <a:bodyPr wrap="square">
            <a:spAutoFit/>
          </a:bodyPr>
          <a:lstStyle/>
          <a:p>
            <a:pPr algn="l"/>
            <a:r>
              <a:rPr sz="1050" b="1" i="0">
                <a:solidFill>
                  <a:srgbClr val="161C2D"/>
                </a:solidFill>
              </a:rPr>
              <a:t>疎通確認
実施</a:t>
            </a:r>
          </a:p>
        </p:txBody>
      </p:sp>
      <p:sp>
        <p:nvSpPr>
          <p:cNvPr id="28" name="Rectangle 27"/>
          <p:cNvSpPr/>
          <p:nvPr/>
        </p:nvSpPr>
        <p:spPr>
          <a:xfrm>
            <a:off x="182880" y="5065776"/>
            <a:ext cx="2834640" cy="786384"/>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5084064"/>
            <a:ext cx="2651760" cy="731520"/>
          </a:xfrm>
          <a:prstGeom prst="rect">
            <a:avLst/>
          </a:prstGeom>
          <a:noFill/>
        </p:spPr>
        <p:txBody>
          <a:bodyPr wrap="square">
            <a:spAutoFit/>
          </a:bodyPr>
          <a:lstStyle/>
          <a:p>
            <a:pPr algn="l"/>
            <a:r>
              <a:rPr sz="1050" b="1" i="0">
                <a:solidFill>
                  <a:srgbClr val="161C2D"/>
                </a:solidFill>
              </a:rPr>
              <a:t>エビデンス
提出・完了確認</a:t>
            </a:r>
          </a:p>
        </p:txBody>
      </p:sp>
      <p:sp>
        <p:nvSpPr>
          <p:cNvPr id="30" name="Rectangle 29"/>
          <p:cNvSpPr/>
          <p:nvPr/>
        </p:nvSpPr>
        <p:spPr>
          <a:xfrm>
            <a:off x="3340608" y="2061789"/>
            <a:ext cx="2439619" cy="503285"/>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04616" y="2080077"/>
            <a:ext cx="2348179" cy="457565"/>
          </a:xfrm>
          <a:prstGeom prst="rect">
            <a:avLst/>
          </a:prstGeom>
          <a:noFill/>
        </p:spPr>
        <p:txBody>
          <a:bodyPr wrap="square">
            <a:spAutoFit/>
          </a:bodyPr>
          <a:lstStyle/>
          <a:p>
            <a:pPr algn="l"/>
            <a:r>
              <a:rPr sz="900" b="1" i="0">
                <a:solidFill>
                  <a:srgbClr val="FFFFFF"/>
                </a:solidFill>
              </a:rPr>
              <a:t>情報収集・調整</a:t>
            </a:r>
          </a:p>
        </p:txBody>
      </p:sp>
      <p:sp>
        <p:nvSpPr>
          <p:cNvPr id="32" name="Rectangle 31"/>
          <p:cNvSpPr/>
          <p:nvPr/>
        </p:nvSpPr>
        <p:spPr>
          <a:xfrm>
            <a:off x="4462272" y="2848173"/>
            <a:ext cx="2383536" cy="503285"/>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80" y="2866461"/>
            <a:ext cx="2292095" cy="457565"/>
          </a:xfrm>
          <a:prstGeom prst="rect">
            <a:avLst/>
          </a:prstGeom>
          <a:noFill/>
        </p:spPr>
        <p:txBody>
          <a:bodyPr wrap="square">
            <a:spAutoFit/>
          </a:bodyPr>
          <a:lstStyle/>
          <a:p>
            <a:pPr algn="l"/>
            <a:r>
              <a:rPr sz="900" b="1" i="0">
                <a:solidFill>
                  <a:srgbClr val="FFFFFF"/>
                </a:solidFill>
              </a:rPr>
              <a:t>申請・開放作業</a:t>
            </a:r>
          </a:p>
        </p:txBody>
      </p:sp>
      <p:sp>
        <p:nvSpPr>
          <p:cNvPr id="34" name="Rectangle 33"/>
          <p:cNvSpPr/>
          <p:nvPr/>
        </p:nvSpPr>
        <p:spPr>
          <a:xfrm>
            <a:off x="5023104" y="3634557"/>
            <a:ext cx="2523744" cy="503285"/>
          </a:xfrm>
          <a:prstGeom prst="rect">
            <a:avLst/>
          </a:prstGeom>
          <a:solidFill>
            <a:srgbClr val="493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87112" y="3652845"/>
            <a:ext cx="2432304" cy="457565"/>
          </a:xfrm>
          <a:prstGeom prst="rect">
            <a:avLst/>
          </a:prstGeom>
          <a:noFill/>
        </p:spPr>
        <p:txBody>
          <a:bodyPr wrap="square">
            <a:spAutoFit/>
          </a:bodyPr>
          <a:lstStyle/>
          <a:p>
            <a:pPr algn="l"/>
            <a:r>
              <a:rPr sz="900" b="1" i="0">
                <a:solidFill>
                  <a:srgbClr val="FFFFFF"/>
                </a:solidFill>
              </a:rPr>
              <a:t>MQ環境構築</a:t>
            </a:r>
          </a:p>
        </p:txBody>
      </p:sp>
      <p:sp>
        <p:nvSpPr>
          <p:cNvPr id="36" name="Rectangle 35"/>
          <p:cNvSpPr/>
          <p:nvPr/>
        </p:nvSpPr>
        <p:spPr>
          <a:xfrm>
            <a:off x="7406640" y="4420941"/>
            <a:ext cx="3084575" cy="503285"/>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70648" y="4439229"/>
            <a:ext cx="2993135" cy="457565"/>
          </a:xfrm>
          <a:prstGeom prst="rect">
            <a:avLst/>
          </a:prstGeom>
          <a:noFill/>
        </p:spPr>
        <p:txBody>
          <a:bodyPr wrap="square">
            <a:spAutoFit/>
          </a:bodyPr>
          <a:lstStyle/>
          <a:p>
            <a:pPr algn="l"/>
            <a:r>
              <a:rPr sz="900" b="1" i="0">
                <a:solidFill>
                  <a:srgbClr val="FFFFFF"/>
                </a:solidFill>
              </a:rPr>
              <a:t>疎通確認実施</a:t>
            </a:r>
          </a:p>
        </p:txBody>
      </p:sp>
      <p:sp>
        <p:nvSpPr>
          <p:cNvPr id="38" name="Rectangle 37"/>
          <p:cNvSpPr/>
          <p:nvPr/>
        </p:nvSpPr>
        <p:spPr>
          <a:xfrm>
            <a:off x="10351008" y="5207325"/>
            <a:ext cx="1121664" cy="503285"/>
          </a:xfrm>
          <a:prstGeom prst="rect">
            <a:avLst/>
          </a:prstGeom>
          <a:solidFill>
            <a:srgbClr val="F16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15016" y="5225613"/>
            <a:ext cx="1030223" cy="457565"/>
          </a:xfrm>
          <a:prstGeom prst="rect">
            <a:avLst/>
          </a:prstGeom>
          <a:noFill/>
        </p:spPr>
        <p:txBody>
          <a:bodyPr wrap="square">
            <a:spAutoFit/>
          </a:bodyPr>
          <a:lstStyle/>
          <a:p>
            <a:pPr algn="l"/>
            <a:r>
              <a:rPr sz="900" b="1" i="0">
                <a:solidFill>
                  <a:srgbClr val="FFFFFF"/>
                </a:solidFill>
              </a:rPr>
              <a:t>エビデンス提出</a:t>
            </a:r>
          </a:p>
        </p:txBody>
      </p:sp>
      <p:sp>
        <p:nvSpPr>
          <p:cNvPr id="40" name="Rectangle 39"/>
          <p:cNvSpPr/>
          <p:nvPr/>
        </p:nvSpPr>
        <p:spPr>
          <a:xfrm>
            <a:off x="6025896" y="4544568"/>
            <a:ext cx="256032" cy="256032"/>
          </a:xfrm>
          <a:prstGeom prst="rect">
            <a:avLst/>
          </a:prstGeom>
          <a:solidFill>
            <a:srgbClr val="F1C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4489703"/>
            <a:ext cx="365760" cy="365760"/>
          </a:xfrm>
          <a:prstGeom prst="rect">
            <a:avLst/>
          </a:prstGeom>
          <a:noFill/>
        </p:spPr>
        <p:txBody>
          <a:bodyPr wrap="square">
            <a:spAutoFit/>
          </a:bodyPr>
          <a:lstStyle/>
          <a:p>
            <a:pPr algn="ctr"/>
            <a:r>
              <a:rPr sz="1400" b="0" i="0">
                <a:solidFill>
                  <a:srgbClr val="F1C21B"/>
                </a:solidFill>
              </a:rPr>
              <a:t>◆</a:t>
            </a:r>
          </a:p>
        </p:txBody>
      </p:sp>
      <p:sp>
        <p:nvSpPr>
          <p:cNvPr id="42" name="TextBox 41"/>
          <p:cNvSpPr txBox="1"/>
          <p:nvPr/>
        </p:nvSpPr>
        <p:spPr>
          <a:xfrm>
            <a:off x="5824728" y="4809744"/>
            <a:ext cx="731520" cy="256032"/>
          </a:xfrm>
          <a:prstGeom prst="rect">
            <a:avLst/>
          </a:prstGeom>
          <a:noFill/>
        </p:spPr>
        <p:txBody>
          <a:bodyPr wrap="square">
            <a:spAutoFit/>
          </a:bodyPr>
          <a:lstStyle/>
          <a:p>
            <a:pPr algn="ctr"/>
            <a:r>
              <a:rPr sz="800" b="1" i="0">
                <a:solidFill>
                  <a:srgbClr val="B06A00"/>
                </a:solidFill>
              </a:rPr>
              <a:t>疎通開始</a:t>
            </a:r>
          </a:p>
        </p:txBody>
      </p:sp>
      <p:sp>
        <p:nvSpPr>
          <p:cNvPr id="43" name="Rectangle 42"/>
          <p:cNvSpPr/>
          <p:nvPr/>
        </p:nvSpPr>
        <p:spPr>
          <a:xfrm>
            <a:off x="11353800" y="4544568"/>
            <a:ext cx="256032" cy="256032"/>
          </a:xfrm>
          <a:prstGeom prst="rect">
            <a:avLst/>
          </a:prstGeom>
          <a:solidFill>
            <a:srgbClr val="F1C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08080" y="4489703"/>
            <a:ext cx="365760" cy="365760"/>
          </a:xfrm>
          <a:prstGeom prst="rect">
            <a:avLst/>
          </a:prstGeom>
          <a:noFill/>
        </p:spPr>
        <p:txBody>
          <a:bodyPr wrap="square">
            <a:spAutoFit/>
          </a:bodyPr>
          <a:lstStyle/>
          <a:p>
            <a:pPr algn="ctr"/>
            <a:r>
              <a:rPr sz="1400" b="0" i="0">
                <a:solidFill>
                  <a:srgbClr val="F1C21B"/>
                </a:solidFill>
              </a:rPr>
              <a:t>◆</a:t>
            </a:r>
          </a:p>
        </p:txBody>
      </p:sp>
      <p:sp>
        <p:nvSpPr>
          <p:cNvPr id="45" name="TextBox 44"/>
          <p:cNvSpPr txBox="1"/>
          <p:nvPr/>
        </p:nvSpPr>
        <p:spPr>
          <a:xfrm>
            <a:off x="11152632" y="4809744"/>
            <a:ext cx="731520" cy="256032"/>
          </a:xfrm>
          <a:prstGeom prst="rect">
            <a:avLst/>
          </a:prstGeom>
          <a:noFill/>
        </p:spPr>
        <p:txBody>
          <a:bodyPr wrap="square">
            <a:spAutoFit/>
          </a:bodyPr>
          <a:lstStyle/>
          <a:p>
            <a:pPr algn="ctr"/>
            <a:r>
              <a:rPr sz="800" b="1" i="0">
                <a:solidFill>
                  <a:srgbClr val="B06A00"/>
                </a:solidFill>
              </a:rPr>
              <a:t>完了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事前準備：対向からの情報収集</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5月中に入手が必要な情報（依頼事項）</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Rectangle 8"/>
          <p:cNvSpPr/>
          <p:nvPr/>
        </p:nvSpPr>
        <p:spPr>
          <a:xfrm>
            <a:off x="457200" y="1417320"/>
            <a:ext cx="2377440" cy="292608"/>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44752"/>
            <a:ext cx="2240280" cy="237744"/>
          </a:xfrm>
          <a:prstGeom prst="rect">
            <a:avLst/>
          </a:prstGeom>
          <a:noFill/>
        </p:spPr>
        <p:txBody>
          <a:bodyPr wrap="square">
            <a:spAutoFit/>
          </a:bodyPr>
          <a:lstStyle/>
          <a:p>
            <a:pPr algn="l"/>
            <a:r>
              <a:rPr sz="1100" b="1" i="0">
                <a:solidFill>
                  <a:srgbClr val="FFFFFF"/>
                </a:solidFill>
              </a:rPr>
              <a:t>接続パラメータ（必須）</a:t>
            </a:r>
          </a:p>
        </p:txBody>
      </p:sp>
      <p:sp>
        <p:nvSpPr>
          <p:cNvPr id="11" name="Rectangle 10"/>
          <p:cNvSpPr/>
          <p:nvPr/>
        </p:nvSpPr>
        <p:spPr>
          <a:xfrm>
            <a:off x="457200" y="1783080"/>
            <a:ext cx="2926080"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37943"/>
            <a:ext cx="2788920" cy="256032"/>
          </a:xfrm>
          <a:prstGeom prst="rect">
            <a:avLst/>
          </a:prstGeom>
          <a:noFill/>
        </p:spPr>
        <p:txBody>
          <a:bodyPr wrap="square">
            <a:spAutoFit/>
          </a:bodyPr>
          <a:lstStyle/>
          <a:p>
            <a:pPr algn="l"/>
            <a:r>
              <a:rPr sz="1100" b="1" i="0">
                <a:solidFill>
                  <a:srgbClr val="FFFFFF"/>
                </a:solidFill>
              </a:rPr>
              <a:t>項目</a:t>
            </a:r>
          </a:p>
        </p:txBody>
      </p:sp>
      <p:sp>
        <p:nvSpPr>
          <p:cNvPr id="13" name="Rectangle 12"/>
          <p:cNvSpPr/>
          <p:nvPr/>
        </p:nvSpPr>
        <p:spPr>
          <a:xfrm>
            <a:off x="3383280" y="1783080"/>
            <a:ext cx="4754880"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837943"/>
            <a:ext cx="4617720" cy="256032"/>
          </a:xfrm>
          <a:prstGeom prst="rect">
            <a:avLst/>
          </a:prstGeom>
          <a:noFill/>
        </p:spPr>
        <p:txBody>
          <a:bodyPr wrap="square">
            <a:spAutoFit/>
          </a:bodyPr>
          <a:lstStyle/>
          <a:p>
            <a:pPr algn="l"/>
            <a:r>
              <a:rPr sz="1100" b="1" i="0">
                <a:solidFill>
                  <a:srgbClr val="FFFFFF"/>
                </a:solidFill>
              </a:rPr>
              <a:t>内容</a:t>
            </a:r>
          </a:p>
        </p:txBody>
      </p:sp>
      <p:sp>
        <p:nvSpPr>
          <p:cNvPr id="15" name="Rectangle 14"/>
          <p:cNvSpPr/>
          <p:nvPr/>
        </p:nvSpPr>
        <p:spPr>
          <a:xfrm>
            <a:off x="8138160" y="1783080"/>
            <a:ext cx="3749039"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837943"/>
            <a:ext cx="3611879" cy="256032"/>
          </a:xfrm>
          <a:prstGeom prst="rect">
            <a:avLst/>
          </a:prstGeom>
          <a:noFill/>
        </p:spPr>
        <p:txBody>
          <a:bodyPr wrap="square">
            <a:spAutoFit/>
          </a:bodyPr>
          <a:lstStyle/>
          <a:p>
            <a:pPr algn="l"/>
            <a:r>
              <a:rPr sz="1100" b="1" i="0">
                <a:solidFill>
                  <a:srgbClr val="FFFFFF"/>
                </a:solidFill>
              </a:rPr>
              <a:t>記入欄（対向記入）</a:t>
            </a:r>
          </a:p>
        </p:txBody>
      </p:sp>
      <p:sp>
        <p:nvSpPr>
          <p:cNvPr id="17" name="Rectangle 16"/>
          <p:cNvSpPr/>
          <p:nvPr/>
        </p:nvSpPr>
        <p:spPr>
          <a:xfrm>
            <a:off x="457200" y="2130552"/>
            <a:ext cx="2926080"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194560"/>
            <a:ext cx="2788920" cy="320040"/>
          </a:xfrm>
          <a:prstGeom prst="rect">
            <a:avLst/>
          </a:prstGeom>
          <a:noFill/>
        </p:spPr>
        <p:txBody>
          <a:bodyPr wrap="square">
            <a:spAutoFit/>
          </a:bodyPr>
          <a:lstStyle/>
          <a:p>
            <a:pPr algn="l"/>
            <a:r>
              <a:rPr sz="1100" b="0" i="0">
                <a:solidFill>
                  <a:srgbClr val="161C2D"/>
                </a:solidFill>
              </a:rPr>
              <a:t>QueueManager名</a:t>
            </a:r>
          </a:p>
        </p:txBody>
      </p:sp>
      <p:sp>
        <p:nvSpPr>
          <p:cNvPr id="19" name="Rectangle 18"/>
          <p:cNvSpPr/>
          <p:nvPr/>
        </p:nvSpPr>
        <p:spPr>
          <a:xfrm>
            <a:off x="3383280" y="2130552"/>
            <a:ext cx="4754880"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194560"/>
            <a:ext cx="4617720" cy="320040"/>
          </a:xfrm>
          <a:prstGeom prst="rect">
            <a:avLst/>
          </a:prstGeom>
          <a:noFill/>
        </p:spPr>
        <p:txBody>
          <a:bodyPr wrap="square">
            <a:spAutoFit/>
          </a:bodyPr>
          <a:lstStyle/>
          <a:p>
            <a:pPr algn="l"/>
            <a:r>
              <a:rPr sz="1100" b="0" i="0">
                <a:solidFill>
                  <a:srgbClr val="161C2D"/>
                </a:solidFill>
              </a:rPr>
              <a:t>接続先のQMgr名称</a:t>
            </a:r>
          </a:p>
        </p:txBody>
      </p:sp>
      <p:sp>
        <p:nvSpPr>
          <p:cNvPr id="21" name="Rectangle 20"/>
          <p:cNvSpPr/>
          <p:nvPr/>
        </p:nvSpPr>
        <p:spPr>
          <a:xfrm>
            <a:off x="8138160" y="2130552"/>
            <a:ext cx="3749039"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194560"/>
            <a:ext cx="3611879" cy="320040"/>
          </a:xfrm>
          <a:prstGeom prst="rect">
            <a:avLst/>
          </a:prstGeom>
          <a:noFill/>
        </p:spPr>
        <p:txBody>
          <a:bodyPr wrap="square">
            <a:spAutoFit/>
          </a:bodyPr>
          <a:lstStyle/>
          <a:p>
            <a:pPr algn="l"/>
            <a:r>
              <a:rPr sz="1100" b="0" i="0">
                <a:solidFill>
                  <a:srgbClr val="161C2D"/>
                </a:solidFill>
              </a:rPr>
              <a:t/>
            </a:r>
          </a:p>
        </p:txBody>
      </p:sp>
      <p:sp>
        <p:nvSpPr>
          <p:cNvPr id="23" name="Rectangle 22"/>
          <p:cNvSpPr/>
          <p:nvPr/>
        </p:nvSpPr>
        <p:spPr>
          <a:xfrm>
            <a:off x="457200" y="2542032"/>
            <a:ext cx="2926080" cy="411480"/>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606040"/>
            <a:ext cx="2788920" cy="320040"/>
          </a:xfrm>
          <a:prstGeom prst="rect">
            <a:avLst/>
          </a:prstGeom>
          <a:noFill/>
        </p:spPr>
        <p:txBody>
          <a:bodyPr wrap="square">
            <a:spAutoFit/>
          </a:bodyPr>
          <a:lstStyle/>
          <a:p>
            <a:pPr algn="l"/>
            <a:r>
              <a:rPr sz="1100" b="0" i="0">
                <a:solidFill>
                  <a:srgbClr val="161C2D"/>
                </a:solidFill>
              </a:rPr>
              <a:t>ホスト / IPアドレス</a:t>
            </a:r>
          </a:p>
        </p:txBody>
      </p:sp>
      <p:sp>
        <p:nvSpPr>
          <p:cNvPr id="25" name="Rectangle 24"/>
          <p:cNvSpPr/>
          <p:nvPr/>
        </p:nvSpPr>
        <p:spPr>
          <a:xfrm>
            <a:off x="3383280" y="2542032"/>
            <a:ext cx="4754880" cy="411480"/>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0" y="2606040"/>
            <a:ext cx="4617720" cy="320040"/>
          </a:xfrm>
          <a:prstGeom prst="rect">
            <a:avLst/>
          </a:prstGeom>
          <a:noFill/>
        </p:spPr>
        <p:txBody>
          <a:bodyPr wrap="square">
            <a:spAutoFit/>
          </a:bodyPr>
          <a:lstStyle/>
          <a:p>
            <a:pPr algn="l"/>
            <a:r>
              <a:rPr sz="1100" b="0" i="0">
                <a:solidFill>
                  <a:srgbClr val="161C2D"/>
                </a:solidFill>
              </a:rPr>
              <a:t>MQリスナーが稼働するサーバー</a:t>
            </a:r>
          </a:p>
        </p:txBody>
      </p:sp>
      <p:sp>
        <p:nvSpPr>
          <p:cNvPr id="27" name="Rectangle 26"/>
          <p:cNvSpPr/>
          <p:nvPr/>
        </p:nvSpPr>
        <p:spPr>
          <a:xfrm>
            <a:off x="8138160" y="2542032"/>
            <a:ext cx="3749039" cy="411480"/>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2606040"/>
            <a:ext cx="3611879" cy="320040"/>
          </a:xfrm>
          <a:prstGeom prst="rect">
            <a:avLst/>
          </a:prstGeom>
          <a:noFill/>
        </p:spPr>
        <p:txBody>
          <a:bodyPr wrap="square">
            <a:spAutoFit/>
          </a:bodyPr>
          <a:lstStyle/>
          <a:p>
            <a:pPr algn="l"/>
            <a:r>
              <a:rPr sz="1100" b="0" i="0">
                <a:solidFill>
                  <a:srgbClr val="161C2D"/>
                </a:solidFill>
              </a:rPr>
              <a:t/>
            </a:r>
          </a:p>
        </p:txBody>
      </p:sp>
      <p:sp>
        <p:nvSpPr>
          <p:cNvPr id="29" name="Rectangle 28"/>
          <p:cNvSpPr/>
          <p:nvPr/>
        </p:nvSpPr>
        <p:spPr>
          <a:xfrm>
            <a:off x="457200" y="2953512"/>
            <a:ext cx="2926080"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017520"/>
            <a:ext cx="2788920" cy="320040"/>
          </a:xfrm>
          <a:prstGeom prst="rect">
            <a:avLst/>
          </a:prstGeom>
          <a:noFill/>
        </p:spPr>
        <p:txBody>
          <a:bodyPr wrap="square">
            <a:spAutoFit/>
          </a:bodyPr>
          <a:lstStyle/>
          <a:p>
            <a:pPr algn="l"/>
            <a:r>
              <a:rPr sz="1100" b="0" i="0">
                <a:solidFill>
                  <a:srgbClr val="161C2D"/>
                </a:solidFill>
              </a:rPr>
              <a:t>ポート番号</a:t>
            </a:r>
          </a:p>
        </p:txBody>
      </p:sp>
      <p:sp>
        <p:nvSpPr>
          <p:cNvPr id="31" name="Rectangle 30"/>
          <p:cNvSpPr/>
          <p:nvPr/>
        </p:nvSpPr>
        <p:spPr>
          <a:xfrm>
            <a:off x="3383280" y="2953512"/>
            <a:ext cx="4754880"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3017520"/>
            <a:ext cx="4617720" cy="320040"/>
          </a:xfrm>
          <a:prstGeom prst="rect">
            <a:avLst/>
          </a:prstGeom>
          <a:noFill/>
        </p:spPr>
        <p:txBody>
          <a:bodyPr wrap="square">
            <a:spAutoFit/>
          </a:bodyPr>
          <a:lstStyle/>
          <a:p>
            <a:pPr algn="l"/>
            <a:r>
              <a:rPr sz="1100" b="0" i="0">
                <a:solidFill>
                  <a:srgbClr val="161C2D"/>
                </a:solidFill>
              </a:rPr>
              <a:t>MQリスナーポート（デフォルト1414）</a:t>
            </a:r>
          </a:p>
        </p:txBody>
      </p:sp>
      <p:sp>
        <p:nvSpPr>
          <p:cNvPr id="33" name="Rectangle 32"/>
          <p:cNvSpPr/>
          <p:nvPr/>
        </p:nvSpPr>
        <p:spPr>
          <a:xfrm>
            <a:off x="8138160" y="2953512"/>
            <a:ext cx="3749039"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3017520"/>
            <a:ext cx="3611879" cy="320040"/>
          </a:xfrm>
          <a:prstGeom prst="rect">
            <a:avLst/>
          </a:prstGeom>
          <a:noFill/>
        </p:spPr>
        <p:txBody>
          <a:bodyPr wrap="square">
            <a:spAutoFit/>
          </a:bodyPr>
          <a:lstStyle/>
          <a:p>
            <a:pPr algn="l"/>
            <a:r>
              <a:rPr sz="1100" b="0" i="0">
                <a:solidFill>
                  <a:srgbClr val="161C2D"/>
                </a:solidFill>
              </a:rPr>
              <a:t/>
            </a:r>
          </a:p>
        </p:txBody>
      </p:sp>
      <p:sp>
        <p:nvSpPr>
          <p:cNvPr id="35" name="Rectangle 34"/>
          <p:cNvSpPr/>
          <p:nvPr/>
        </p:nvSpPr>
        <p:spPr>
          <a:xfrm>
            <a:off x="457200" y="3364992"/>
            <a:ext cx="2926080" cy="411480"/>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3429000"/>
            <a:ext cx="2788920" cy="320040"/>
          </a:xfrm>
          <a:prstGeom prst="rect">
            <a:avLst/>
          </a:prstGeom>
          <a:noFill/>
        </p:spPr>
        <p:txBody>
          <a:bodyPr wrap="square">
            <a:spAutoFit/>
          </a:bodyPr>
          <a:lstStyle/>
          <a:p>
            <a:pPr algn="l"/>
            <a:r>
              <a:rPr sz="1100" b="0" i="0">
                <a:solidFill>
                  <a:srgbClr val="161C2D"/>
                </a:solidFill>
              </a:rPr>
              <a:t>Channel名</a:t>
            </a:r>
          </a:p>
        </p:txBody>
      </p:sp>
      <p:sp>
        <p:nvSpPr>
          <p:cNvPr id="37" name="Rectangle 36"/>
          <p:cNvSpPr/>
          <p:nvPr/>
        </p:nvSpPr>
        <p:spPr>
          <a:xfrm>
            <a:off x="3383280" y="3364992"/>
            <a:ext cx="4754880" cy="411480"/>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0" y="3429000"/>
            <a:ext cx="4617720" cy="320040"/>
          </a:xfrm>
          <a:prstGeom prst="rect">
            <a:avLst/>
          </a:prstGeom>
          <a:noFill/>
        </p:spPr>
        <p:txBody>
          <a:bodyPr wrap="square">
            <a:spAutoFit/>
          </a:bodyPr>
          <a:lstStyle/>
          <a:p>
            <a:pPr algn="l"/>
            <a:r>
              <a:rPr sz="1100" b="0" i="0">
                <a:solidFill>
                  <a:srgbClr val="161C2D"/>
                </a:solidFill>
              </a:rPr>
              <a:t>Server-Connection Channel名</a:t>
            </a:r>
          </a:p>
        </p:txBody>
      </p:sp>
      <p:sp>
        <p:nvSpPr>
          <p:cNvPr id="39" name="Rectangle 38"/>
          <p:cNvSpPr/>
          <p:nvPr/>
        </p:nvSpPr>
        <p:spPr>
          <a:xfrm>
            <a:off x="8138160" y="3364992"/>
            <a:ext cx="3749039" cy="411480"/>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3429000"/>
            <a:ext cx="3611879" cy="320040"/>
          </a:xfrm>
          <a:prstGeom prst="rect">
            <a:avLst/>
          </a:prstGeom>
          <a:noFill/>
        </p:spPr>
        <p:txBody>
          <a:bodyPr wrap="square">
            <a:spAutoFit/>
          </a:bodyPr>
          <a:lstStyle/>
          <a:p>
            <a:pPr algn="l"/>
            <a:r>
              <a:rPr sz="1100" b="0" i="0">
                <a:solidFill>
                  <a:srgbClr val="161C2D"/>
                </a:solidFill>
              </a:rPr>
              <a:t/>
            </a:r>
          </a:p>
        </p:txBody>
      </p:sp>
      <p:sp>
        <p:nvSpPr>
          <p:cNvPr id="41" name="Rectangle 40"/>
          <p:cNvSpPr/>
          <p:nvPr/>
        </p:nvSpPr>
        <p:spPr>
          <a:xfrm>
            <a:off x="457200" y="3776472"/>
            <a:ext cx="2926080"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3840480"/>
            <a:ext cx="2788920" cy="320040"/>
          </a:xfrm>
          <a:prstGeom prst="rect">
            <a:avLst/>
          </a:prstGeom>
          <a:noFill/>
        </p:spPr>
        <p:txBody>
          <a:bodyPr wrap="square">
            <a:spAutoFit/>
          </a:bodyPr>
          <a:lstStyle/>
          <a:p>
            <a:pPr algn="l"/>
            <a:r>
              <a:rPr sz="1100" b="0" i="0">
                <a:solidFill>
                  <a:srgbClr val="161C2D"/>
                </a:solidFill>
              </a:rPr>
              <a:t>テスト用キュー名</a:t>
            </a:r>
          </a:p>
        </p:txBody>
      </p:sp>
      <p:sp>
        <p:nvSpPr>
          <p:cNvPr id="43" name="Rectangle 42"/>
          <p:cNvSpPr/>
          <p:nvPr/>
        </p:nvSpPr>
        <p:spPr>
          <a:xfrm>
            <a:off x="3383280" y="3776472"/>
            <a:ext cx="4754880"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74720" y="3840480"/>
            <a:ext cx="4617720" cy="320040"/>
          </a:xfrm>
          <a:prstGeom prst="rect">
            <a:avLst/>
          </a:prstGeom>
          <a:noFill/>
        </p:spPr>
        <p:txBody>
          <a:bodyPr wrap="square">
            <a:spAutoFit/>
          </a:bodyPr>
          <a:lstStyle/>
          <a:p>
            <a:pPr algn="l"/>
            <a:r>
              <a:rPr sz="1100" b="0" i="0">
                <a:solidFill>
                  <a:srgbClr val="161C2D"/>
                </a:solidFill>
              </a:rPr>
              <a:t>amqsput / amqsget 用キュー名</a:t>
            </a:r>
          </a:p>
        </p:txBody>
      </p:sp>
      <p:sp>
        <p:nvSpPr>
          <p:cNvPr id="45" name="Rectangle 44"/>
          <p:cNvSpPr/>
          <p:nvPr/>
        </p:nvSpPr>
        <p:spPr>
          <a:xfrm>
            <a:off x="8138160" y="3776472"/>
            <a:ext cx="3749039" cy="411480"/>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0" y="3840480"/>
            <a:ext cx="3611879" cy="320040"/>
          </a:xfrm>
          <a:prstGeom prst="rect">
            <a:avLst/>
          </a:prstGeom>
          <a:noFill/>
        </p:spPr>
        <p:txBody>
          <a:bodyPr wrap="square">
            <a:spAutoFit/>
          </a:bodyPr>
          <a:lstStyle/>
          <a:p>
            <a:pPr algn="l"/>
            <a:r>
              <a:rPr sz="1100" b="0" i="0">
                <a:solidFill>
                  <a:srgbClr val="161C2D"/>
                </a:solidFill>
              </a:rPr>
              <a:t/>
            </a:r>
          </a:p>
        </p:txBody>
      </p:sp>
      <p:sp>
        <p:nvSpPr>
          <p:cNvPr id="47" name="Rectangle 46"/>
          <p:cNvSpPr/>
          <p:nvPr/>
        </p:nvSpPr>
        <p:spPr>
          <a:xfrm>
            <a:off x="457200" y="4251960"/>
            <a:ext cx="2377440" cy="292608"/>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4279392"/>
            <a:ext cx="2240280" cy="237744"/>
          </a:xfrm>
          <a:prstGeom prst="rect">
            <a:avLst/>
          </a:prstGeom>
          <a:noFill/>
        </p:spPr>
        <p:txBody>
          <a:bodyPr wrap="square">
            <a:spAutoFit/>
          </a:bodyPr>
          <a:lstStyle/>
          <a:p>
            <a:pPr algn="l"/>
            <a:r>
              <a:rPr sz="1100" b="1" i="0">
                <a:solidFill>
                  <a:srgbClr val="FFFFFF"/>
                </a:solidFill>
              </a:rPr>
              <a:t>セキュリティ確認</a:t>
            </a:r>
          </a:p>
        </p:txBody>
      </p:sp>
      <p:sp>
        <p:nvSpPr>
          <p:cNvPr id="49" name="Rectangle 48"/>
          <p:cNvSpPr/>
          <p:nvPr/>
        </p:nvSpPr>
        <p:spPr>
          <a:xfrm>
            <a:off x="457200" y="4617720"/>
            <a:ext cx="3657600" cy="822960"/>
          </a:xfrm>
          <a:prstGeom prst="rect">
            <a:avLst/>
          </a:prstGeom>
          <a:solidFill>
            <a:srgbClr val="FFFFFF"/>
          </a:solidFill>
          <a:ln w="12700">
            <a:solidFill>
              <a:srgbClr val="006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4663440"/>
            <a:ext cx="3383280" cy="347472"/>
          </a:xfrm>
          <a:prstGeom prst="rect">
            <a:avLst/>
          </a:prstGeom>
          <a:noFill/>
        </p:spPr>
        <p:txBody>
          <a:bodyPr wrap="square">
            <a:spAutoFit/>
          </a:bodyPr>
          <a:lstStyle/>
          <a:p>
            <a:pPr algn="l"/>
            <a:r>
              <a:rPr sz="1100" b="1" i="0">
                <a:solidFill>
                  <a:srgbClr val="161C2D"/>
                </a:solidFill>
              </a:rPr>
              <a:t>□ TLS/SSL の要否</a:t>
            </a:r>
          </a:p>
        </p:txBody>
      </p:sp>
      <p:sp>
        <p:nvSpPr>
          <p:cNvPr id="51" name="TextBox 50"/>
          <p:cNvSpPr txBox="1"/>
          <p:nvPr/>
        </p:nvSpPr>
        <p:spPr>
          <a:xfrm>
            <a:off x="594360" y="4983480"/>
            <a:ext cx="3383280" cy="411480"/>
          </a:xfrm>
          <a:prstGeom prst="rect">
            <a:avLst/>
          </a:prstGeom>
          <a:noFill/>
        </p:spPr>
        <p:txBody>
          <a:bodyPr wrap="square">
            <a:spAutoFit/>
          </a:bodyPr>
          <a:lstStyle/>
          <a:p>
            <a:pPr algn="l"/>
            <a:r>
              <a:rPr sz="950" b="0" i="1">
                <a:solidFill>
                  <a:srgbClr val="697289"/>
                </a:solidFill>
              </a:rPr>
              <a:t>必要な場合は証明書の交換が別途必要</a:t>
            </a:r>
          </a:p>
        </p:txBody>
      </p:sp>
      <p:sp>
        <p:nvSpPr>
          <p:cNvPr id="52" name="Rectangle 51"/>
          <p:cNvSpPr/>
          <p:nvPr/>
        </p:nvSpPr>
        <p:spPr>
          <a:xfrm>
            <a:off x="4343400" y="4617720"/>
            <a:ext cx="3657600" cy="822960"/>
          </a:xfrm>
          <a:prstGeom prst="rect">
            <a:avLst/>
          </a:prstGeom>
          <a:solidFill>
            <a:srgbClr val="FFFFFF"/>
          </a:solidFill>
          <a:ln w="12700">
            <a:solidFill>
              <a:srgbClr val="006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80560" y="4663440"/>
            <a:ext cx="3383280" cy="347472"/>
          </a:xfrm>
          <a:prstGeom prst="rect">
            <a:avLst/>
          </a:prstGeom>
          <a:noFill/>
        </p:spPr>
        <p:txBody>
          <a:bodyPr wrap="square">
            <a:spAutoFit/>
          </a:bodyPr>
          <a:lstStyle/>
          <a:p>
            <a:pPr algn="l"/>
            <a:r>
              <a:rPr sz="1100" b="1" i="0">
                <a:solidFill>
                  <a:srgbClr val="161C2D"/>
                </a:solidFill>
              </a:rPr>
              <a:t>□ 認証（ID/PW）の要否</a:t>
            </a:r>
          </a:p>
        </p:txBody>
      </p:sp>
      <p:sp>
        <p:nvSpPr>
          <p:cNvPr id="54" name="TextBox 53"/>
          <p:cNvSpPr txBox="1"/>
          <p:nvPr/>
        </p:nvSpPr>
        <p:spPr>
          <a:xfrm>
            <a:off x="4480560" y="4983480"/>
            <a:ext cx="3383280" cy="411480"/>
          </a:xfrm>
          <a:prstGeom prst="rect">
            <a:avLst/>
          </a:prstGeom>
          <a:noFill/>
        </p:spPr>
        <p:txBody>
          <a:bodyPr wrap="square">
            <a:spAutoFit/>
          </a:bodyPr>
          <a:lstStyle/>
          <a:p>
            <a:pPr algn="l"/>
            <a:r>
              <a:rPr sz="950" b="0" i="1">
                <a:solidFill>
                  <a:srgbClr val="697289"/>
                </a:solidFill>
              </a:rPr>
              <a:t>必要な場合はアカウント払い出し依頼</a:t>
            </a:r>
          </a:p>
        </p:txBody>
      </p:sp>
      <p:sp>
        <p:nvSpPr>
          <p:cNvPr id="55" name="Rectangle 54"/>
          <p:cNvSpPr/>
          <p:nvPr/>
        </p:nvSpPr>
        <p:spPr>
          <a:xfrm>
            <a:off x="8229600" y="4617720"/>
            <a:ext cx="3657600" cy="822960"/>
          </a:xfrm>
          <a:prstGeom prst="rect">
            <a:avLst/>
          </a:prstGeom>
          <a:solidFill>
            <a:srgbClr val="FFFFFF"/>
          </a:solidFill>
          <a:ln w="12700">
            <a:solidFill>
              <a:srgbClr val="006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366760" y="4663440"/>
            <a:ext cx="3383280" cy="347472"/>
          </a:xfrm>
          <a:prstGeom prst="rect">
            <a:avLst/>
          </a:prstGeom>
          <a:noFill/>
        </p:spPr>
        <p:txBody>
          <a:bodyPr wrap="square">
            <a:spAutoFit/>
          </a:bodyPr>
          <a:lstStyle/>
          <a:p>
            <a:pPr algn="l"/>
            <a:r>
              <a:rPr sz="1100" b="1" i="0">
                <a:solidFill>
                  <a:srgbClr val="161C2D"/>
                </a:solidFill>
              </a:rPr>
              <a:t>□ IP制限の有無</a:t>
            </a:r>
          </a:p>
        </p:txBody>
      </p:sp>
      <p:sp>
        <p:nvSpPr>
          <p:cNvPr id="57" name="TextBox 56"/>
          <p:cNvSpPr txBox="1"/>
          <p:nvPr/>
        </p:nvSpPr>
        <p:spPr>
          <a:xfrm>
            <a:off x="8366760" y="4983480"/>
            <a:ext cx="3383280" cy="411480"/>
          </a:xfrm>
          <a:prstGeom prst="rect">
            <a:avLst/>
          </a:prstGeom>
          <a:noFill/>
        </p:spPr>
        <p:txBody>
          <a:bodyPr wrap="square">
            <a:spAutoFit/>
          </a:bodyPr>
          <a:lstStyle/>
          <a:p>
            <a:pPr algn="l"/>
            <a:r>
              <a:rPr sz="950" b="0" i="1">
                <a:solidFill>
                  <a:srgbClr val="697289"/>
                </a:solidFill>
              </a:rPr>
              <a:t>こちらのIPアドレスを事前連携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疎通確認 手順詳細</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3フェーズの実施ステップ</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Rectangle 8"/>
          <p:cNvSpPr/>
          <p:nvPr/>
        </p:nvSpPr>
        <p:spPr>
          <a:xfrm>
            <a:off x="457200" y="1417320"/>
            <a:ext cx="3657600" cy="4526280"/>
          </a:xfrm>
          <a:prstGeom prst="rect">
            <a:avLst/>
          </a:prstGeom>
          <a:solidFill>
            <a:srgbClr val="FFFFFF"/>
          </a:solidFill>
          <a:ln w="19050">
            <a:solidFill>
              <a:srgbClr val="006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3657600" cy="45720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44752"/>
            <a:ext cx="3383280" cy="384048"/>
          </a:xfrm>
          <a:prstGeom prst="rect">
            <a:avLst/>
          </a:prstGeom>
          <a:noFill/>
        </p:spPr>
        <p:txBody>
          <a:bodyPr wrap="square">
            <a:spAutoFit/>
          </a:bodyPr>
          <a:lstStyle/>
          <a:p>
            <a:pPr algn="l"/>
            <a:r>
              <a:rPr sz="1300" b="1" i="0">
                <a:solidFill>
                  <a:srgbClr val="FFFFFF"/>
                </a:solidFill>
              </a:rPr>
              <a:t>① ネットワーク疎通</a:t>
            </a:r>
          </a:p>
        </p:txBody>
      </p:sp>
      <p:sp>
        <p:nvSpPr>
          <p:cNvPr id="12" name="Rectangle 11"/>
          <p:cNvSpPr/>
          <p:nvPr/>
        </p:nvSpPr>
        <p:spPr>
          <a:xfrm>
            <a:off x="594360" y="2011680"/>
            <a:ext cx="320040" cy="32004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029968"/>
            <a:ext cx="320040" cy="301752"/>
          </a:xfrm>
          <a:prstGeom prst="rect">
            <a:avLst/>
          </a:prstGeom>
          <a:noFill/>
        </p:spPr>
        <p:txBody>
          <a:bodyPr wrap="square">
            <a:spAutoFit/>
          </a:bodyPr>
          <a:lstStyle/>
          <a:p>
            <a:pPr algn="ctr"/>
            <a:r>
              <a:rPr sz="1100" b="1" i="0">
                <a:solidFill>
                  <a:srgbClr val="FFFFFF"/>
                </a:solidFill>
              </a:rPr>
              <a:t>1</a:t>
            </a:r>
          </a:p>
        </p:txBody>
      </p:sp>
      <p:sp>
        <p:nvSpPr>
          <p:cNvPr id="14" name="TextBox 13"/>
          <p:cNvSpPr txBox="1"/>
          <p:nvPr/>
        </p:nvSpPr>
        <p:spPr>
          <a:xfrm>
            <a:off x="987552" y="2011680"/>
            <a:ext cx="2971800" cy="822960"/>
          </a:xfrm>
          <a:prstGeom prst="rect">
            <a:avLst/>
          </a:prstGeom>
          <a:noFill/>
        </p:spPr>
        <p:txBody>
          <a:bodyPr wrap="square">
            <a:spAutoFit/>
          </a:bodyPr>
          <a:lstStyle/>
          <a:p>
            <a:pPr algn="l"/>
            <a:r>
              <a:rPr sz="1100" b="0" i="0">
                <a:solidFill>
                  <a:srgbClr val="161C2D"/>
                </a:solidFill>
              </a:rPr>
              <a:t>ping で対向IPへの到達確認</a:t>
            </a:r>
          </a:p>
        </p:txBody>
      </p:sp>
      <p:sp>
        <p:nvSpPr>
          <p:cNvPr id="15" name="Rectangle 14"/>
          <p:cNvSpPr/>
          <p:nvPr/>
        </p:nvSpPr>
        <p:spPr>
          <a:xfrm>
            <a:off x="594360" y="3017520"/>
            <a:ext cx="320040" cy="32004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35808"/>
            <a:ext cx="320040" cy="301752"/>
          </a:xfrm>
          <a:prstGeom prst="rect">
            <a:avLst/>
          </a:prstGeom>
          <a:noFill/>
        </p:spPr>
        <p:txBody>
          <a:bodyPr wrap="square">
            <a:spAutoFit/>
          </a:bodyPr>
          <a:lstStyle/>
          <a:p>
            <a:pPr algn="ctr"/>
            <a:r>
              <a:rPr sz="1100" b="1" i="0">
                <a:solidFill>
                  <a:srgbClr val="FFFFFF"/>
                </a:solidFill>
              </a:rPr>
              <a:t>2</a:t>
            </a:r>
          </a:p>
        </p:txBody>
      </p:sp>
      <p:sp>
        <p:nvSpPr>
          <p:cNvPr id="17" name="TextBox 16"/>
          <p:cNvSpPr txBox="1"/>
          <p:nvPr/>
        </p:nvSpPr>
        <p:spPr>
          <a:xfrm>
            <a:off x="987552" y="3017520"/>
            <a:ext cx="2971800" cy="822960"/>
          </a:xfrm>
          <a:prstGeom prst="rect">
            <a:avLst/>
          </a:prstGeom>
          <a:noFill/>
        </p:spPr>
        <p:txBody>
          <a:bodyPr wrap="square">
            <a:spAutoFit/>
          </a:bodyPr>
          <a:lstStyle/>
          <a:p>
            <a:pPr algn="l"/>
            <a:r>
              <a:rPr sz="1100" b="0" i="0">
                <a:solidFill>
                  <a:srgbClr val="161C2D"/>
                </a:solidFill>
              </a:rPr>
              <a:t>telnet / nc でMQポート（1414）への接続確認</a:t>
            </a:r>
          </a:p>
        </p:txBody>
      </p:sp>
      <p:sp>
        <p:nvSpPr>
          <p:cNvPr id="18" name="Rectangle 17"/>
          <p:cNvSpPr/>
          <p:nvPr/>
        </p:nvSpPr>
        <p:spPr>
          <a:xfrm>
            <a:off x="594360" y="4023360"/>
            <a:ext cx="320040" cy="320040"/>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041648"/>
            <a:ext cx="320040" cy="301752"/>
          </a:xfrm>
          <a:prstGeom prst="rect">
            <a:avLst/>
          </a:prstGeom>
          <a:noFill/>
        </p:spPr>
        <p:txBody>
          <a:bodyPr wrap="square">
            <a:spAutoFit/>
          </a:bodyPr>
          <a:lstStyle/>
          <a:p>
            <a:pPr algn="ctr"/>
            <a:r>
              <a:rPr sz="1100" b="1" i="0">
                <a:solidFill>
                  <a:srgbClr val="FFFFFF"/>
                </a:solidFill>
              </a:rPr>
              <a:t>3</a:t>
            </a:r>
          </a:p>
        </p:txBody>
      </p:sp>
      <p:sp>
        <p:nvSpPr>
          <p:cNvPr id="20" name="TextBox 19"/>
          <p:cNvSpPr txBox="1"/>
          <p:nvPr/>
        </p:nvSpPr>
        <p:spPr>
          <a:xfrm>
            <a:off x="987552" y="4023360"/>
            <a:ext cx="2971800" cy="822960"/>
          </a:xfrm>
          <a:prstGeom prst="rect">
            <a:avLst/>
          </a:prstGeom>
          <a:noFill/>
        </p:spPr>
        <p:txBody>
          <a:bodyPr wrap="square">
            <a:spAutoFit/>
          </a:bodyPr>
          <a:lstStyle/>
          <a:p>
            <a:pPr algn="l"/>
            <a:r>
              <a:rPr sz="1100" b="0" i="0">
                <a:solidFill>
                  <a:srgbClr val="161C2D"/>
                </a:solidFill>
              </a:rPr>
              <a:t>NG → ファイアウォール・ルーティング確認へ</a:t>
            </a:r>
          </a:p>
        </p:txBody>
      </p:sp>
      <p:sp>
        <p:nvSpPr>
          <p:cNvPr id="21" name="Rectangle 20"/>
          <p:cNvSpPr/>
          <p:nvPr/>
        </p:nvSpPr>
        <p:spPr>
          <a:xfrm>
            <a:off x="4343400" y="1417320"/>
            <a:ext cx="3657600" cy="4526280"/>
          </a:xfrm>
          <a:prstGeom prst="rect">
            <a:avLst/>
          </a:prstGeom>
          <a:solidFill>
            <a:srgbClr val="FFFFFF"/>
          </a:solidFill>
          <a:ln w="19050">
            <a:solidFill>
              <a:srgbClr val="0082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1417320"/>
            <a:ext cx="3657600" cy="457200"/>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1444752"/>
            <a:ext cx="3383280" cy="384048"/>
          </a:xfrm>
          <a:prstGeom prst="rect">
            <a:avLst/>
          </a:prstGeom>
          <a:noFill/>
        </p:spPr>
        <p:txBody>
          <a:bodyPr wrap="square">
            <a:spAutoFit/>
          </a:bodyPr>
          <a:lstStyle/>
          <a:p>
            <a:pPr algn="l"/>
            <a:r>
              <a:rPr sz="1300" b="1" i="0">
                <a:solidFill>
                  <a:srgbClr val="FFFFFF"/>
                </a:solidFill>
              </a:rPr>
              <a:t>② MQ接続確認</a:t>
            </a:r>
          </a:p>
        </p:txBody>
      </p:sp>
      <p:sp>
        <p:nvSpPr>
          <p:cNvPr id="24" name="Rectangle 23"/>
          <p:cNvSpPr/>
          <p:nvPr/>
        </p:nvSpPr>
        <p:spPr>
          <a:xfrm>
            <a:off x="4480560" y="2011680"/>
            <a:ext cx="320040" cy="320040"/>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2029968"/>
            <a:ext cx="320040" cy="301752"/>
          </a:xfrm>
          <a:prstGeom prst="rect">
            <a:avLst/>
          </a:prstGeom>
          <a:noFill/>
        </p:spPr>
        <p:txBody>
          <a:bodyPr wrap="square">
            <a:spAutoFit/>
          </a:bodyPr>
          <a:lstStyle/>
          <a:p>
            <a:pPr algn="ctr"/>
            <a:r>
              <a:rPr sz="1100" b="1" i="0">
                <a:solidFill>
                  <a:srgbClr val="FFFFFF"/>
                </a:solidFill>
              </a:rPr>
              <a:t>1</a:t>
            </a:r>
          </a:p>
        </p:txBody>
      </p:sp>
      <p:sp>
        <p:nvSpPr>
          <p:cNvPr id="26" name="TextBox 25"/>
          <p:cNvSpPr txBox="1"/>
          <p:nvPr/>
        </p:nvSpPr>
        <p:spPr>
          <a:xfrm>
            <a:off x="4873752" y="2011680"/>
            <a:ext cx="2971800" cy="822960"/>
          </a:xfrm>
          <a:prstGeom prst="rect">
            <a:avLst/>
          </a:prstGeom>
          <a:noFill/>
        </p:spPr>
        <p:txBody>
          <a:bodyPr wrap="square">
            <a:spAutoFit/>
          </a:bodyPr>
          <a:lstStyle/>
          <a:p>
            <a:pPr algn="l"/>
            <a:r>
              <a:rPr sz="1100" b="0" i="0">
                <a:solidFill>
                  <a:srgbClr val="161C2D"/>
                </a:solidFill>
              </a:rPr>
              <a:t>クライアント接続: MQSERVER環境変数をセット</a:t>
            </a:r>
          </a:p>
        </p:txBody>
      </p:sp>
      <p:sp>
        <p:nvSpPr>
          <p:cNvPr id="27" name="Rectangle 26"/>
          <p:cNvSpPr/>
          <p:nvPr/>
        </p:nvSpPr>
        <p:spPr>
          <a:xfrm>
            <a:off x="4480560" y="3017520"/>
            <a:ext cx="320040" cy="320040"/>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3035808"/>
            <a:ext cx="320040" cy="301752"/>
          </a:xfrm>
          <a:prstGeom prst="rect">
            <a:avLst/>
          </a:prstGeom>
          <a:noFill/>
        </p:spPr>
        <p:txBody>
          <a:bodyPr wrap="square">
            <a:spAutoFit/>
          </a:bodyPr>
          <a:lstStyle/>
          <a:p>
            <a:pPr algn="ctr"/>
            <a:r>
              <a:rPr sz="1100" b="1" i="0">
                <a:solidFill>
                  <a:srgbClr val="FFFFFF"/>
                </a:solidFill>
              </a:rPr>
              <a:t>2</a:t>
            </a:r>
          </a:p>
        </p:txBody>
      </p:sp>
      <p:sp>
        <p:nvSpPr>
          <p:cNvPr id="29" name="TextBox 28"/>
          <p:cNvSpPr txBox="1"/>
          <p:nvPr/>
        </p:nvSpPr>
        <p:spPr>
          <a:xfrm>
            <a:off x="4873752" y="3017520"/>
            <a:ext cx="2971800" cy="822960"/>
          </a:xfrm>
          <a:prstGeom prst="rect">
            <a:avLst/>
          </a:prstGeom>
          <a:noFill/>
        </p:spPr>
        <p:txBody>
          <a:bodyPr wrap="square">
            <a:spAutoFit/>
          </a:bodyPr>
          <a:lstStyle/>
          <a:p>
            <a:pPr algn="l"/>
            <a:r>
              <a:rPr sz="1100" b="0" i="0">
                <a:solidFill>
                  <a:srgbClr val="161C2D"/>
                </a:solidFill>
              </a:rPr>
              <a:t>Server-to-Server: Sender Channelを起動・状態確認</a:t>
            </a:r>
          </a:p>
        </p:txBody>
      </p:sp>
      <p:sp>
        <p:nvSpPr>
          <p:cNvPr id="30" name="Rectangle 29"/>
          <p:cNvSpPr/>
          <p:nvPr/>
        </p:nvSpPr>
        <p:spPr>
          <a:xfrm>
            <a:off x="4480560" y="4023360"/>
            <a:ext cx="320040" cy="320040"/>
          </a:xfrm>
          <a:prstGeom prst="rect">
            <a:avLst/>
          </a:prstGeom>
          <a:solidFill>
            <a:srgbClr val="0082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4041648"/>
            <a:ext cx="320040" cy="301752"/>
          </a:xfrm>
          <a:prstGeom prst="rect">
            <a:avLst/>
          </a:prstGeom>
          <a:noFill/>
        </p:spPr>
        <p:txBody>
          <a:bodyPr wrap="square">
            <a:spAutoFit/>
          </a:bodyPr>
          <a:lstStyle/>
          <a:p>
            <a:pPr algn="ctr"/>
            <a:r>
              <a:rPr sz="1100" b="1" i="0">
                <a:solidFill>
                  <a:srgbClr val="FFFFFF"/>
                </a:solidFill>
              </a:rPr>
              <a:t>3</a:t>
            </a:r>
          </a:p>
        </p:txBody>
      </p:sp>
      <p:sp>
        <p:nvSpPr>
          <p:cNvPr id="32" name="TextBox 31"/>
          <p:cNvSpPr txBox="1"/>
          <p:nvPr/>
        </p:nvSpPr>
        <p:spPr>
          <a:xfrm>
            <a:off x="4873752" y="4023360"/>
            <a:ext cx="2971800" cy="822960"/>
          </a:xfrm>
          <a:prstGeom prst="rect">
            <a:avLst/>
          </a:prstGeom>
          <a:noFill/>
        </p:spPr>
        <p:txBody>
          <a:bodyPr wrap="square">
            <a:spAutoFit/>
          </a:bodyPr>
          <a:lstStyle/>
          <a:p>
            <a:pPr algn="l"/>
            <a:r>
              <a:rPr sz="1100" b="0" i="0">
                <a:solidFill>
                  <a:srgbClr val="161C2D"/>
                </a:solidFill>
              </a:rPr>
              <a:t>STATUS(RUNNING) を確認</a:t>
            </a:r>
          </a:p>
        </p:txBody>
      </p:sp>
      <p:sp>
        <p:nvSpPr>
          <p:cNvPr id="33" name="Rectangle 32"/>
          <p:cNvSpPr/>
          <p:nvPr/>
        </p:nvSpPr>
        <p:spPr>
          <a:xfrm>
            <a:off x="8229600" y="1417320"/>
            <a:ext cx="3657600" cy="4526280"/>
          </a:xfrm>
          <a:prstGeom prst="rect">
            <a:avLst/>
          </a:prstGeom>
          <a:solidFill>
            <a:srgbClr val="FFFFFF"/>
          </a:solidFill>
          <a:ln w="19050">
            <a:solidFill>
              <a:srgbClr val="24A1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0" y="1417320"/>
            <a:ext cx="3657600" cy="45720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66760" y="1444752"/>
            <a:ext cx="3383280" cy="384048"/>
          </a:xfrm>
          <a:prstGeom prst="rect">
            <a:avLst/>
          </a:prstGeom>
          <a:noFill/>
        </p:spPr>
        <p:txBody>
          <a:bodyPr wrap="square">
            <a:spAutoFit/>
          </a:bodyPr>
          <a:lstStyle/>
          <a:p>
            <a:pPr algn="l"/>
            <a:r>
              <a:rPr sz="1300" b="1" i="0">
                <a:solidFill>
                  <a:srgbClr val="FFFFFF"/>
                </a:solidFill>
              </a:rPr>
              <a:t>③ メッセージ送受信</a:t>
            </a:r>
          </a:p>
        </p:txBody>
      </p:sp>
      <p:sp>
        <p:nvSpPr>
          <p:cNvPr id="36" name="Rectangle 35"/>
          <p:cNvSpPr/>
          <p:nvPr/>
        </p:nvSpPr>
        <p:spPr>
          <a:xfrm>
            <a:off x="8366760" y="2011680"/>
            <a:ext cx="320040" cy="32004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2029968"/>
            <a:ext cx="320040" cy="301752"/>
          </a:xfrm>
          <a:prstGeom prst="rect">
            <a:avLst/>
          </a:prstGeom>
          <a:noFill/>
        </p:spPr>
        <p:txBody>
          <a:bodyPr wrap="square">
            <a:spAutoFit/>
          </a:bodyPr>
          <a:lstStyle/>
          <a:p>
            <a:pPr algn="ctr"/>
            <a:r>
              <a:rPr sz="1100" b="1" i="0">
                <a:solidFill>
                  <a:srgbClr val="FFFFFF"/>
                </a:solidFill>
              </a:rPr>
              <a:t>1</a:t>
            </a:r>
          </a:p>
        </p:txBody>
      </p:sp>
      <p:sp>
        <p:nvSpPr>
          <p:cNvPr id="38" name="TextBox 37"/>
          <p:cNvSpPr txBox="1"/>
          <p:nvPr/>
        </p:nvSpPr>
        <p:spPr>
          <a:xfrm>
            <a:off x="8759952" y="2011680"/>
            <a:ext cx="2971800" cy="822960"/>
          </a:xfrm>
          <a:prstGeom prst="rect">
            <a:avLst/>
          </a:prstGeom>
          <a:noFill/>
        </p:spPr>
        <p:txBody>
          <a:bodyPr wrap="square">
            <a:spAutoFit/>
          </a:bodyPr>
          <a:lstStyle/>
          <a:p>
            <a:pPr algn="l"/>
            <a:r>
              <a:rPr sz="1100" b="0" i="0">
                <a:solidFill>
                  <a:srgbClr val="161C2D"/>
                </a:solidFill>
              </a:rPr>
              <a:t>amqsput &lt;キュー名&gt; &lt;QMgr名&gt; でメッセージ送信</a:t>
            </a:r>
          </a:p>
        </p:txBody>
      </p:sp>
      <p:sp>
        <p:nvSpPr>
          <p:cNvPr id="39" name="Rectangle 38"/>
          <p:cNvSpPr/>
          <p:nvPr/>
        </p:nvSpPr>
        <p:spPr>
          <a:xfrm>
            <a:off x="8366760" y="3017520"/>
            <a:ext cx="320040" cy="32004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3035808"/>
            <a:ext cx="320040" cy="301752"/>
          </a:xfrm>
          <a:prstGeom prst="rect">
            <a:avLst/>
          </a:prstGeom>
          <a:noFill/>
        </p:spPr>
        <p:txBody>
          <a:bodyPr wrap="square">
            <a:spAutoFit/>
          </a:bodyPr>
          <a:lstStyle/>
          <a:p>
            <a:pPr algn="ctr"/>
            <a:r>
              <a:rPr sz="1100" b="1" i="0">
                <a:solidFill>
                  <a:srgbClr val="FFFFFF"/>
                </a:solidFill>
              </a:rPr>
              <a:t>2</a:t>
            </a:r>
          </a:p>
        </p:txBody>
      </p:sp>
      <p:sp>
        <p:nvSpPr>
          <p:cNvPr id="41" name="TextBox 40"/>
          <p:cNvSpPr txBox="1"/>
          <p:nvPr/>
        </p:nvSpPr>
        <p:spPr>
          <a:xfrm>
            <a:off x="8759952" y="3017520"/>
            <a:ext cx="2971800" cy="822960"/>
          </a:xfrm>
          <a:prstGeom prst="rect">
            <a:avLst/>
          </a:prstGeom>
          <a:noFill/>
        </p:spPr>
        <p:txBody>
          <a:bodyPr wrap="square">
            <a:spAutoFit/>
          </a:bodyPr>
          <a:lstStyle/>
          <a:p>
            <a:pPr algn="l"/>
            <a:r>
              <a:rPr sz="1100" b="0" i="0">
                <a:solidFill>
                  <a:srgbClr val="161C2D"/>
                </a:solidFill>
              </a:rPr>
              <a:t>amqsget &lt;キュー名&gt; &lt;QMgr名&gt; でメッセージ受信</a:t>
            </a:r>
          </a:p>
        </p:txBody>
      </p:sp>
      <p:sp>
        <p:nvSpPr>
          <p:cNvPr id="42" name="Rectangle 41"/>
          <p:cNvSpPr/>
          <p:nvPr/>
        </p:nvSpPr>
        <p:spPr>
          <a:xfrm>
            <a:off x="8366760" y="4023360"/>
            <a:ext cx="320040" cy="32004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66760" y="4041648"/>
            <a:ext cx="320040" cy="301752"/>
          </a:xfrm>
          <a:prstGeom prst="rect">
            <a:avLst/>
          </a:prstGeom>
          <a:noFill/>
        </p:spPr>
        <p:txBody>
          <a:bodyPr wrap="square">
            <a:spAutoFit/>
          </a:bodyPr>
          <a:lstStyle/>
          <a:p>
            <a:pPr algn="ctr"/>
            <a:r>
              <a:rPr sz="1100" b="1" i="0">
                <a:solidFill>
                  <a:srgbClr val="FFFFFF"/>
                </a:solidFill>
              </a:rPr>
              <a:t>3</a:t>
            </a:r>
          </a:p>
        </p:txBody>
      </p:sp>
      <p:sp>
        <p:nvSpPr>
          <p:cNvPr id="44" name="TextBox 43"/>
          <p:cNvSpPr txBox="1"/>
          <p:nvPr/>
        </p:nvSpPr>
        <p:spPr>
          <a:xfrm>
            <a:off x="8759952" y="4023360"/>
            <a:ext cx="2971800" cy="822960"/>
          </a:xfrm>
          <a:prstGeom prst="rect">
            <a:avLst/>
          </a:prstGeom>
          <a:noFill/>
        </p:spPr>
        <p:txBody>
          <a:bodyPr wrap="square">
            <a:spAutoFit/>
          </a:bodyPr>
          <a:lstStyle/>
          <a:p>
            <a:pPr algn="l"/>
            <a:r>
              <a:rPr sz="1100" b="0" i="0">
                <a:solidFill>
                  <a:srgbClr val="161C2D"/>
                </a:solidFill>
              </a:rPr>
              <a:t>折り返し確認: 対向が受信後にREPLYキューへ返信</a:t>
            </a:r>
          </a:p>
        </p:txBody>
      </p:sp>
      <p:sp>
        <p:nvSpPr>
          <p:cNvPr id="45" name="Rectangle 44"/>
          <p:cNvSpPr/>
          <p:nvPr/>
        </p:nvSpPr>
        <p:spPr>
          <a:xfrm>
            <a:off x="457200" y="5394960"/>
            <a:ext cx="11247120" cy="594360"/>
          </a:xfrm>
          <a:prstGeom prst="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5394960"/>
            <a:ext cx="73152" cy="594360"/>
          </a:xfrm>
          <a:prstGeom prst="rect">
            <a:avLst/>
          </a:prstGeom>
          <a:solidFill>
            <a:srgbClr val="F1C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458968"/>
            <a:ext cx="10972800" cy="457200"/>
          </a:xfrm>
          <a:prstGeom prst="rect">
            <a:avLst/>
          </a:prstGeom>
          <a:noFill/>
        </p:spPr>
        <p:txBody>
          <a:bodyPr wrap="square">
            <a:spAutoFit/>
          </a:bodyPr>
          <a:lstStyle/>
          <a:p>
            <a:pPr algn="l"/>
            <a:r>
              <a:rPr sz="1100" b="0" i="0">
                <a:solidFill>
                  <a:srgbClr val="604000"/>
                </a:solidFill>
              </a:rPr>
              <a:t>POINT  各フェーズはNG判明次第、次フェーズに進まず原因を特定してください。　ネットワーク問題はMQ設定より優先して解消が必要です。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エビデンス・完了基準</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確認結果の記録と合否判定</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Rectangle 8"/>
          <p:cNvSpPr/>
          <p:nvPr/>
        </p:nvSpPr>
        <p:spPr>
          <a:xfrm>
            <a:off x="457200" y="1417320"/>
            <a:ext cx="2377440" cy="292608"/>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44752"/>
            <a:ext cx="2240280" cy="237744"/>
          </a:xfrm>
          <a:prstGeom prst="rect">
            <a:avLst/>
          </a:prstGeom>
          <a:noFill/>
        </p:spPr>
        <p:txBody>
          <a:bodyPr wrap="square">
            <a:spAutoFit/>
          </a:bodyPr>
          <a:lstStyle/>
          <a:p>
            <a:pPr algn="l"/>
            <a:r>
              <a:rPr sz="1100" b="1" i="0">
                <a:solidFill>
                  <a:srgbClr val="FFFFFF"/>
                </a:solidFill>
              </a:rPr>
              <a:t>確認結果チェックリスト</a:t>
            </a:r>
          </a:p>
        </p:txBody>
      </p:sp>
      <p:sp>
        <p:nvSpPr>
          <p:cNvPr id="11" name="Rectangle 10"/>
          <p:cNvSpPr/>
          <p:nvPr/>
        </p:nvSpPr>
        <p:spPr>
          <a:xfrm>
            <a:off x="457200" y="1783080"/>
            <a:ext cx="1371600"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37943"/>
            <a:ext cx="1234440" cy="256032"/>
          </a:xfrm>
          <a:prstGeom prst="rect">
            <a:avLst/>
          </a:prstGeom>
          <a:noFill/>
        </p:spPr>
        <p:txBody>
          <a:bodyPr wrap="square">
            <a:spAutoFit/>
          </a:bodyPr>
          <a:lstStyle/>
          <a:p>
            <a:pPr algn="l"/>
            <a:r>
              <a:rPr sz="1100" b="1" i="0">
                <a:solidFill>
                  <a:srgbClr val="FFFFFF"/>
                </a:solidFill>
              </a:rPr>
              <a:t>フェーズ</a:t>
            </a:r>
          </a:p>
        </p:txBody>
      </p:sp>
      <p:sp>
        <p:nvSpPr>
          <p:cNvPr id="13" name="Rectangle 12"/>
          <p:cNvSpPr/>
          <p:nvPr/>
        </p:nvSpPr>
        <p:spPr>
          <a:xfrm>
            <a:off x="1828800" y="1783080"/>
            <a:ext cx="3840480"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1837943"/>
            <a:ext cx="3703320" cy="256032"/>
          </a:xfrm>
          <a:prstGeom prst="rect">
            <a:avLst/>
          </a:prstGeom>
          <a:noFill/>
        </p:spPr>
        <p:txBody>
          <a:bodyPr wrap="square">
            <a:spAutoFit/>
          </a:bodyPr>
          <a:lstStyle/>
          <a:p>
            <a:pPr algn="l"/>
            <a:r>
              <a:rPr sz="1100" b="1" i="0">
                <a:solidFill>
                  <a:srgbClr val="FFFFFF"/>
                </a:solidFill>
              </a:rPr>
              <a:t>確認項目</a:t>
            </a:r>
          </a:p>
        </p:txBody>
      </p:sp>
      <p:sp>
        <p:nvSpPr>
          <p:cNvPr id="15" name="Rectangle 14"/>
          <p:cNvSpPr/>
          <p:nvPr/>
        </p:nvSpPr>
        <p:spPr>
          <a:xfrm>
            <a:off x="5669280" y="1783080"/>
            <a:ext cx="4572000"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1837943"/>
            <a:ext cx="4434840" cy="256032"/>
          </a:xfrm>
          <a:prstGeom prst="rect">
            <a:avLst/>
          </a:prstGeom>
          <a:noFill/>
        </p:spPr>
        <p:txBody>
          <a:bodyPr wrap="square">
            <a:spAutoFit/>
          </a:bodyPr>
          <a:lstStyle/>
          <a:p>
            <a:pPr algn="l"/>
            <a:r>
              <a:rPr sz="1100" b="1" i="0">
                <a:solidFill>
                  <a:srgbClr val="FFFFFF"/>
                </a:solidFill>
              </a:rPr>
              <a:t>合格基準</a:t>
            </a:r>
          </a:p>
        </p:txBody>
      </p:sp>
      <p:sp>
        <p:nvSpPr>
          <p:cNvPr id="17" name="Rectangle 16"/>
          <p:cNvSpPr/>
          <p:nvPr/>
        </p:nvSpPr>
        <p:spPr>
          <a:xfrm>
            <a:off x="10241280" y="1783080"/>
            <a:ext cx="1463040" cy="347472"/>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19" y="1837943"/>
            <a:ext cx="1325880" cy="256032"/>
          </a:xfrm>
          <a:prstGeom prst="rect">
            <a:avLst/>
          </a:prstGeom>
          <a:noFill/>
        </p:spPr>
        <p:txBody>
          <a:bodyPr wrap="square">
            <a:spAutoFit/>
          </a:bodyPr>
          <a:lstStyle/>
          <a:p>
            <a:pPr algn="l"/>
            <a:r>
              <a:rPr sz="1100" b="1" i="0">
                <a:solidFill>
                  <a:srgbClr val="FFFFFF"/>
                </a:solidFill>
              </a:rPr>
              <a:t>結果</a:t>
            </a:r>
          </a:p>
        </p:txBody>
      </p:sp>
      <p:sp>
        <p:nvSpPr>
          <p:cNvPr id="19" name="Rectangle 18"/>
          <p:cNvSpPr/>
          <p:nvPr/>
        </p:nvSpPr>
        <p:spPr>
          <a:xfrm>
            <a:off x="457200" y="2130552"/>
            <a:ext cx="137160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194560"/>
            <a:ext cx="1234440" cy="292607"/>
          </a:xfrm>
          <a:prstGeom prst="rect">
            <a:avLst/>
          </a:prstGeom>
          <a:noFill/>
        </p:spPr>
        <p:txBody>
          <a:bodyPr wrap="square">
            <a:spAutoFit/>
          </a:bodyPr>
          <a:lstStyle/>
          <a:p>
            <a:pPr algn="l"/>
            <a:r>
              <a:rPr sz="1050" b="0" i="0">
                <a:solidFill>
                  <a:srgbClr val="161C2D"/>
                </a:solidFill>
              </a:rPr>
              <a:t>①</a:t>
            </a:r>
          </a:p>
        </p:txBody>
      </p:sp>
      <p:sp>
        <p:nvSpPr>
          <p:cNvPr id="21" name="Rectangle 20"/>
          <p:cNvSpPr/>
          <p:nvPr/>
        </p:nvSpPr>
        <p:spPr>
          <a:xfrm>
            <a:off x="1828800" y="2130552"/>
            <a:ext cx="384048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2194560"/>
            <a:ext cx="3703320" cy="292607"/>
          </a:xfrm>
          <a:prstGeom prst="rect">
            <a:avLst/>
          </a:prstGeom>
          <a:noFill/>
        </p:spPr>
        <p:txBody>
          <a:bodyPr wrap="square">
            <a:spAutoFit/>
          </a:bodyPr>
          <a:lstStyle/>
          <a:p>
            <a:pPr algn="l"/>
            <a:r>
              <a:rPr sz="1050" b="0" i="0">
                <a:solidFill>
                  <a:srgbClr val="161C2D"/>
                </a:solidFill>
              </a:rPr>
              <a:t>ping 疎通</a:t>
            </a:r>
          </a:p>
        </p:txBody>
      </p:sp>
      <p:sp>
        <p:nvSpPr>
          <p:cNvPr id="23" name="Rectangle 22"/>
          <p:cNvSpPr/>
          <p:nvPr/>
        </p:nvSpPr>
        <p:spPr>
          <a:xfrm>
            <a:off x="5669280" y="2130552"/>
            <a:ext cx="457200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0" y="2194560"/>
            <a:ext cx="4434840" cy="292607"/>
          </a:xfrm>
          <a:prstGeom prst="rect">
            <a:avLst/>
          </a:prstGeom>
          <a:noFill/>
        </p:spPr>
        <p:txBody>
          <a:bodyPr wrap="square">
            <a:spAutoFit/>
          </a:bodyPr>
          <a:lstStyle/>
          <a:p>
            <a:pPr algn="l"/>
            <a:r>
              <a:rPr sz="1050" b="0" i="0">
                <a:solidFill>
                  <a:srgbClr val="161C2D"/>
                </a:solidFill>
              </a:rPr>
              <a:t>パケットロスなし・応答あり</a:t>
            </a:r>
          </a:p>
        </p:txBody>
      </p:sp>
      <p:sp>
        <p:nvSpPr>
          <p:cNvPr id="25" name="Rectangle 24"/>
          <p:cNvSpPr/>
          <p:nvPr/>
        </p:nvSpPr>
        <p:spPr>
          <a:xfrm>
            <a:off x="10241280" y="2130552"/>
            <a:ext cx="146304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19" y="2194560"/>
            <a:ext cx="1325880" cy="292607"/>
          </a:xfrm>
          <a:prstGeom prst="rect">
            <a:avLst/>
          </a:prstGeom>
          <a:noFill/>
        </p:spPr>
        <p:txBody>
          <a:bodyPr wrap="square">
            <a:spAutoFit/>
          </a:bodyPr>
          <a:lstStyle/>
          <a:p>
            <a:pPr algn="l"/>
            <a:r>
              <a:rPr sz="1050" b="0" i="0">
                <a:solidFill>
                  <a:srgbClr val="697289"/>
                </a:solidFill>
              </a:rPr>
              <a:t>OK / NG</a:t>
            </a:r>
          </a:p>
        </p:txBody>
      </p:sp>
      <p:sp>
        <p:nvSpPr>
          <p:cNvPr id="27" name="Rectangle 26"/>
          <p:cNvSpPr/>
          <p:nvPr/>
        </p:nvSpPr>
        <p:spPr>
          <a:xfrm>
            <a:off x="457200" y="2514600"/>
            <a:ext cx="137160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2578608"/>
            <a:ext cx="1234440" cy="292607"/>
          </a:xfrm>
          <a:prstGeom prst="rect">
            <a:avLst/>
          </a:prstGeom>
          <a:noFill/>
        </p:spPr>
        <p:txBody>
          <a:bodyPr wrap="square">
            <a:spAutoFit/>
          </a:bodyPr>
          <a:lstStyle/>
          <a:p>
            <a:pPr algn="l"/>
            <a:r>
              <a:rPr sz="1050" b="0" i="0">
                <a:solidFill>
                  <a:srgbClr val="161C2D"/>
                </a:solidFill>
              </a:rPr>
              <a:t>①</a:t>
            </a:r>
          </a:p>
        </p:txBody>
      </p:sp>
      <p:sp>
        <p:nvSpPr>
          <p:cNvPr id="29" name="Rectangle 28"/>
          <p:cNvSpPr/>
          <p:nvPr/>
        </p:nvSpPr>
        <p:spPr>
          <a:xfrm>
            <a:off x="1828800" y="2514600"/>
            <a:ext cx="384048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20240" y="2578608"/>
            <a:ext cx="3703320" cy="292607"/>
          </a:xfrm>
          <a:prstGeom prst="rect">
            <a:avLst/>
          </a:prstGeom>
          <a:noFill/>
        </p:spPr>
        <p:txBody>
          <a:bodyPr wrap="square">
            <a:spAutoFit/>
          </a:bodyPr>
          <a:lstStyle/>
          <a:p>
            <a:pPr algn="l"/>
            <a:r>
              <a:rPr sz="1050" b="0" i="0">
                <a:solidFill>
                  <a:srgbClr val="161C2D"/>
                </a:solidFill>
              </a:rPr>
              <a:t>ポート疎通</a:t>
            </a:r>
          </a:p>
        </p:txBody>
      </p:sp>
      <p:sp>
        <p:nvSpPr>
          <p:cNvPr id="31" name="Rectangle 30"/>
          <p:cNvSpPr/>
          <p:nvPr/>
        </p:nvSpPr>
        <p:spPr>
          <a:xfrm>
            <a:off x="5669280" y="2514600"/>
            <a:ext cx="457200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0720" y="2578608"/>
            <a:ext cx="4434840" cy="292607"/>
          </a:xfrm>
          <a:prstGeom prst="rect">
            <a:avLst/>
          </a:prstGeom>
          <a:noFill/>
        </p:spPr>
        <p:txBody>
          <a:bodyPr wrap="square">
            <a:spAutoFit/>
          </a:bodyPr>
          <a:lstStyle/>
          <a:p>
            <a:pPr algn="l"/>
            <a:r>
              <a:rPr sz="1050" b="0" i="0">
                <a:solidFill>
                  <a:srgbClr val="161C2D"/>
                </a:solidFill>
              </a:rPr>
              <a:t>Connected / open と表示</a:t>
            </a:r>
          </a:p>
        </p:txBody>
      </p:sp>
      <p:sp>
        <p:nvSpPr>
          <p:cNvPr id="33" name="Rectangle 32"/>
          <p:cNvSpPr/>
          <p:nvPr/>
        </p:nvSpPr>
        <p:spPr>
          <a:xfrm>
            <a:off x="10241280" y="2514600"/>
            <a:ext cx="146304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19" y="2578608"/>
            <a:ext cx="1325880" cy="292607"/>
          </a:xfrm>
          <a:prstGeom prst="rect">
            <a:avLst/>
          </a:prstGeom>
          <a:noFill/>
        </p:spPr>
        <p:txBody>
          <a:bodyPr wrap="square">
            <a:spAutoFit/>
          </a:bodyPr>
          <a:lstStyle/>
          <a:p>
            <a:pPr algn="l"/>
            <a:r>
              <a:rPr sz="1050" b="0" i="0">
                <a:solidFill>
                  <a:srgbClr val="697289"/>
                </a:solidFill>
              </a:rPr>
              <a:t>OK / NG</a:t>
            </a:r>
          </a:p>
        </p:txBody>
      </p:sp>
      <p:sp>
        <p:nvSpPr>
          <p:cNvPr id="35" name="Rectangle 34"/>
          <p:cNvSpPr/>
          <p:nvPr/>
        </p:nvSpPr>
        <p:spPr>
          <a:xfrm>
            <a:off x="457200" y="2898648"/>
            <a:ext cx="137160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2962656"/>
            <a:ext cx="1234440" cy="292607"/>
          </a:xfrm>
          <a:prstGeom prst="rect">
            <a:avLst/>
          </a:prstGeom>
          <a:noFill/>
        </p:spPr>
        <p:txBody>
          <a:bodyPr wrap="square">
            <a:spAutoFit/>
          </a:bodyPr>
          <a:lstStyle/>
          <a:p>
            <a:pPr algn="l"/>
            <a:r>
              <a:rPr sz="1050" b="0" i="0">
                <a:solidFill>
                  <a:srgbClr val="161C2D"/>
                </a:solidFill>
              </a:rPr>
              <a:t>②</a:t>
            </a:r>
          </a:p>
        </p:txBody>
      </p:sp>
      <p:sp>
        <p:nvSpPr>
          <p:cNvPr id="37" name="Rectangle 36"/>
          <p:cNvSpPr/>
          <p:nvPr/>
        </p:nvSpPr>
        <p:spPr>
          <a:xfrm>
            <a:off x="1828800" y="2898648"/>
            <a:ext cx="384048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20240" y="2962656"/>
            <a:ext cx="3703320" cy="292607"/>
          </a:xfrm>
          <a:prstGeom prst="rect">
            <a:avLst/>
          </a:prstGeom>
          <a:noFill/>
        </p:spPr>
        <p:txBody>
          <a:bodyPr wrap="square">
            <a:spAutoFit/>
          </a:bodyPr>
          <a:lstStyle/>
          <a:p>
            <a:pPr algn="l"/>
            <a:r>
              <a:rPr sz="1050" b="0" i="0">
                <a:solidFill>
                  <a:srgbClr val="161C2D"/>
                </a:solidFill>
              </a:rPr>
              <a:t>Channel接続</a:t>
            </a:r>
          </a:p>
        </p:txBody>
      </p:sp>
      <p:sp>
        <p:nvSpPr>
          <p:cNvPr id="39" name="Rectangle 38"/>
          <p:cNvSpPr/>
          <p:nvPr/>
        </p:nvSpPr>
        <p:spPr>
          <a:xfrm>
            <a:off x="5669280" y="2898648"/>
            <a:ext cx="457200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0" y="2962656"/>
            <a:ext cx="4434840" cy="292607"/>
          </a:xfrm>
          <a:prstGeom prst="rect">
            <a:avLst/>
          </a:prstGeom>
          <a:noFill/>
        </p:spPr>
        <p:txBody>
          <a:bodyPr wrap="square">
            <a:spAutoFit/>
          </a:bodyPr>
          <a:lstStyle/>
          <a:p>
            <a:pPr algn="l"/>
            <a:r>
              <a:rPr sz="1050" b="0" i="0">
                <a:solidFill>
                  <a:srgbClr val="161C2D"/>
                </a:solidFill>
              </a:rPr>
              <a:t>STATUS(RUNNING) 確認</a:t>
            </a:r>
          </a:p>
        </p:txBody>
      </p:sp>
      <p:sp>
        <p:nvSpPr>
          <p:cNvPr id="41" name="Rectangle 40"/>
          <p:cNvSpPr/>
          <p:nvPr/>
        </p:nvSpPr>
        <p:spPr>
          <a:xfrm>
            <a:off x="10241280" y="2898648"/>
            <a:ext cx="146304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332719" y="2962656"/>
            <a:ext cx="1325880" cy="292607"/>
          </a:xfrm>
          <a:prstGeom prst="rect">
            <a:avLst/>
          </a:prstGeom>
          <a:noFill/>
        </p:spPr>
        <p:txBody>
          <a:bodyPr wrap="square">
            <a:spAutoFit/>
          </a:bodyPr>
          <a:lstStyle/>
          <a:p>
            <a:pPr algn="l"/>
            <a:r>
              <a:rPr sz="1050" b="0" i="0">
                <a:solidFill>
                  <a:srgbClr val="697289"/>
                </a:solidFill>
              </a:rPr>
              <a:t>OK / NG</a:t>
            </a:r>
          </a:p>
        </p:txBody>
      </p:sp>
      <p:sp>
        <p:nvSpPr>
          <p:cNvPr id="43" name="Rectangle 42"/>
          <p:cNvSpPr/>
          <p:nvPr/>
        </p:nvSpPr>
        <p:spPr>
          <a:xfrm>
            <a:off x="457200" y="3282696"/>
            <a:ext cx="137160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3346703"/>
            <a:ext cx="1234440" cy="292607"/>
          </a:xfrm>
          <a:prstGeom prst="rect">
            <a:avLst/>
          </a:prstGeom>
          <a:noFill/>
        </p:spPr>
        <p:txBody>
          <a:bodyPr wrap="square">
            <a:spAutoFit/>
          </a:bodyPr>
          <a:lstStyle/>
          <a:p>
            <a:pPr algn="l"/>
            <a:r>
              <a:rPr sz="1050" b="0" i="0">
                <a:solidFill>
                  <a:srgbClr val="161C2D"/>
                </a:solidFill>
              </a:rPr>
              <a:t>②</a:t>
            </a:r>
          </a:p>
        </p:txBody>
      </p:sp>
      <p:sp>
        <p:nvSpPr>
          <p:cNvPr id="45" name="Rectangle 44"/>
          <p:cNvSpPr/>
          <p:nvPr/>
        </p:nvSpPr>
        <p:spPr>
          <a:xfrm>
            <a:off x="1828800" y="3282696"/>
            <a:ext cx="384048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920240" y="3346703"/>
            <a:ext cx="3703320" cy="292607"/>
          </a:xfrm>
          <a:prstGeom prst="rect">
            <a:avLst/>
          </a:prstGeom>
          <a:noFill/>
        </p:spPr>
        <p:txBody>
          <a:bodyPr wrap="square">
            <a:spAutoFit/>
          </a:bodyPr>
          <a:lstStyle/>
          <a:p>
            <a:pPr algn="l"/>
            <a:r>
              <a:rPr sz="1050" b="0" i="0">
                <a:solidFill>
                  <a:srgbClr val="161C2D"/>
                </a:solidFill>
              </a:rPr>
              <a:t>amqsput 送信</a:t>
            </a:r>
          </a:p>
        </p:txBody>
      </p:sp>
      <p:sp>
        <p:nvSpPr>
          <p:cNvPr id="47" name="Rectangle 46"/>
          <p:cNvSpPr/>
          <p:nvPr/>
        </p:nvSpPr>
        <p:spPr>
          <a:xfrm>
            <a:off x="5669280" y="3282696"/>
            <a:ext cx="457200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60720" y="3346703"/>
            <a:ext cx="4434840" cy="292607"/>
          </a:xfrm>
          <a:prstGeom prst="rect">
            <a:avLst/>
          </a:prstGeom>
          <a:noFill/>
        </p:spPr>
        <p:txBody>
          <a:bodyPr wrap="square">
            <a:spAutoFit/>
          </a:bodyPr>
          <a:lstStyle/>
          <a:p>
            <a:pPr algn="l"/>
            <a:r>
              <a:rPr sz="1050" b="0" i="0">
                <a:solidFill>
                  <a:srgbClr val="161C2D"/>
                </a:solidFill>
              </a:rPr>
              <a:t>AMQSPUT0 end が表示される</a:t>
            </a:r>
          </a:p>
        </p:txBody>
      </p:sp>
      <p:sp>
        <p:nvSpPr>
          <p:cNvPr id="49" name="Rectangle 48"/>
          <p:cNvSpPr/>
          <p:nvPr/>
        </p:nvSpPr>
        <p:spPr>
          <a:xfrm>
            <a:off x="10241280" y="3282696"/>
            <a:ext cx="146304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19" y="3346703"/>
            <a:ext cx="1325880" cy="292607"/>
          </a:xfrm>
          <a:prstGeom prst="rect">
            <a:avLst/>
          </a:prstGeom>
          <a:noFill/>
        </p:spPr>
        <p:txBody>
          <a:bodyPr wrap="square">
            <a:spAutoFit/>
          </a:bodyPr>
          <a:lstStyle/>
          <a:p>
            <a:pPr algn="l"/>
            <a:r>
              <a:rPr sz="1050" b="0" i="0">
                <a:solidFill>
                  <a:srgbClr val="697289"/>
                </a:solidFill>
              </a:rPr>
              <a:t>OK / NG</a:t>
            </a:r>
          </a:p>
        </p:txBody>
      </p:sp>
      <p:sp>
        <p:nvSpPr>
          <p:cNvPr id="51" name="Rectangle 50"/>
          <p:cNvSpPr/>
          <p:nvPr/>
        </p:nvSpPr>
        <p:spPr>
          <a:xfrm>
            <a:off x="457200" y="3666744"/>
            <a:ext cx="137160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730752"/>
            <a:ext cx="1234440" cy="292607"/>
          </a:xfrm>
          <a:prstGeom prst="rect">
            <a:avLst/>
          </a:prstGeom>
          <a:noFill/>
        </p:spPr>
        <p:txBody>
          <a:bodyPr wrap="square">
            <a:spAutoFit/>
          </a:bodyPr>
          <a:lstStyle/>
          <a:p>
            <a:pPr algn="l"/>
            <a:r>
              <a:rPr sz="1050" b="0" i="0">
                <a:solidFill>
                  <a:srgbClr val="161C2D"/>
                </a:solidFill>
              </a:rPr>
              <a:t>②</a:t>
            </a:r>
          </a:p>
        </p:txBody>
      </p:sp>
      <p:sp>
        <p:nvSpPr>
          <p:cNvPr id="53" name="Rectangle 52"/>
          <p:cNvSpPr/>
          <p:nvPr/>
        </p:nvSpPr>
        <p:spPr>
          <a:xfrm>
            <a:off x="1828800" y="3666744"/>
            <a:ext cx="384048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920240" y="3730752"/>
            <a:ext cx="3703320" cy="292607"/>
          </a:xfrm>
          <a:prstGeom prst="rect">
            <a:avLst/>
          </a:prstGeom>
          <a:noFill/>
        </p:spPr>
        <p:txBody>
          <a:bodyPr wrap="square">
            <a:spAutoFit/>
          </a:bodyPr>
          <a:lstStyle/>
          <a:p>
            <a:pPr algn="l"/>
            <a:r>
              <a:rPr sz="1050" b="0" i="0">
                <a:solidFill>
                  <a:srgbClr val="161C2D"/>
                </a:solidFill>
              </a:rPr>
              <a:t>amqsget 受信</a:t>
            </a:r>
          </a:p>
        </p:txBody>
      </p:sp>
      <p:sp>
        <p:nvSpPr>
          <p:cNvPr id="55" name="Rectangle 54"/>
          <p:cNvSpPr/>
          <p:nvPr/>
        </p:nvSpPr>
        <p:spPr>
          <a:xfrm>
            <a:off x="5669280" y="3666744"/>
            <a:ext cx="457200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760720" y="3730752"/>
            <a:ext cx="4434840" cy="292607"/>
          </a:xfrm>
          <a:prstGeom prst="rect">
            <a:avLst/>
          </a:prstGeom>
          <a:noFill/>
        </p:spPr>
        <p:txBody>
          <a:bodyPr wrap="square">
            <a:spAutoFit/>
          </a:bodyPr>
          <a:lstStyle/>
          <a:p>
            <a:pPr algn="l"/>
            <a:r>
              <a:rPr sz="1050" b="0" i="0">
                <a:solidFill>
                  <a:srgbClr val="161C2D"/>
                </a:solidFill>
              </a:rPr>
              <a:t>送信メッセージが受信できる</a:t>
            </a:r>
          </a:p>
        </p:txBody>
      </p:sp>
      <p:sp>
        <p:nvSpPr>
          <p:cNvPr id="57" name="Rectangle 56"/>
          <p:cNvSpPr/>
          <p:nvPr/>
        </p:nvSpPr>
        <p:spPr>
          <a:xfrm>
            <a:off x="10241280" y="3666744"/>
            <a:ext cx="1463040" cy="384048"/>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332719" y="3730752"/>
            <a:ext cx="1325880" cy="292607"/>
          </a:xfrm>
          <a:prstGeom prst="rect">
            <a:avLst/>
          </a:prstGeom>
          <a:noFill/>
        </p:spPr>
        <p:txBody>
          <a:bodyPr wrap="square">
            <a:spAutoFit/>
          </a:bodyPr>
          <a:lstStyle/>
          <a:p>
            <a:pPr algn="l"/>
            <a:r>
              <a:rPr sz="1050" b="0" i="0">
                <a:solidFill>
                  <a:srgbClr val="697289"/>
                </a:solidFill>
              </a:rPr>
              <a:t>OK / NG</a:t>
            </a:r>
          </a:p>
        </p:txBody>
      </p:sp>
      <p:sp>
        <p:nvSpPr>
          <p:cNvPr id="59" name="Rectangle 58"/>
          <p:cNvSpPr/>
          <p:nvPr/>
        </p:nvSpPr>
        <p:spPr>
          <a:xfrm>
            <a:off x="457200" y="4050791"/>
            <a:ext cx="137160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8640" y="4114800"/>
            <a:ext cx="1234440" cy="292607"/>
          </a:xfrm>
          <a:prstGeom prst="rect">
            <a:avLst/>
          </a:prstGeom>
          <a:noFill/>
        </p:spPr>
        <p:txBody>
          <a:bodyPr wrap="square">
            <a:spAutoFit/>
          </a:bodyPr>
          <a:lstStyle/>
          <a:p>
            <a:pPr algn="l"/>
            <a:r>
              <a:rPr sz="1050" b="0" i="0">
                <a:solidFill>
                  <a:srgbClr val="161C2D"/>
                </a:solidFill>
              </a:rPr>
              <a:t>③</a:t>
            </a:r>
          </a:p>
        </p:txBody>
      </p:sp>
      <p:sp>
        <p:nvSpPr>
          <p:cNvPr id="61" name="Rectangle 60"/>
          <p:cNvSpPr/>
          <p:nvPr/>
        </p:nvSpPr>
        <p:spPr>
          <a:xfrm>
            <a:off x="1828800" y="4050791"/>
            <a:ext cx="384048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920240" y="4114800"/>
            <a:ext cx="3703320" cy="292607"/>
          </a:xfrm>
          <a:prstGeom prst="rect">
            <a:avLst/>
          </a:prstGeom>
          <a:noFill/>
        </p:spPr>
        <p:txBody>
          <a:bodyPr wrap="square">
            <a:spAutoFit/>
          </a:bodyPr>
          <a:lstStyle/>
          <a:p>
            <a:pPr algn="l"/>
            <a:r>
              <a:rPr sz="1050" b="0" i="0">
                <a:solidFill>
                  <a:srgbClr val="161C2D"/>
                </a:solidFill>
              </a:rPr>
              <a:t>往復確認</a:t>
            </a:r>
          </a:p>
        </p:txBody>
      </p:sp>
      <p:sp>
        <p:nvSpPr>
          <p:cNvPr id="63" name="Rectangle 62"/>
          <p:cNvSpPr/>
          <p:nvPr/>
        </p:nvSpPr>
        <p:spPr>
          <a:xfrm>
            <a:off x="5669280" y="4050791"/>
            <a:ext cx="457200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760720" y="4114800"/>
            <a:ext cx="4434840" cy="292607"/>
          </a:xfrm>
          <a:prstGeom prst="rect">
            <a:avLst/>
          </a:prstGeom>
          <a:noFill/>
        </p:spPr>
        <p:txBody>
          <a:bodyPr wrap="square">
            <a:spAutoFit/>
          </a:bodyPr>
          <a:lstStyle/>
          <a:p>
            <a:pPr algn="l"/>
            <a:r>
              <a:rPr sz="1050" b="0" i="0">
                <a:solidFill>
                  <a:srgbClr val="161C2D"/>
                </a:solidFill>
              </a:rPr>
              <a:t>対向からの折り返しメッセージを受信</a:t>
            </a:r>
          </a:p>
        </p:txBody>
      </p:sp>
      <p:sp>
        <p:nvSpPr>
          <p:cNvPr id="65" name="Rectangle 64"/>
          <p:cNvSpPr/>
          <p:nvPr/>
        </p:nvSpPr>
        <p:spPr>
          <a:xfrm>
            <a:off x="10241280" y="4050791"/>
            <a:ext cx="1463040" cy="384048"/>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332719" y="4114800"/>
            <a:ext cx="1325880" cy="292607"/>
          </a:xfrm>
          <a:prstGeom prst="rect">
            <a:avLst/>
          </a:prstGeom>
          <a:noFill/>
        </p:spPr>
        <p:txBody>
          <a:bodyPr wrap="square">
            <a:spAutoFit/>
          </a:bodyPr>
          <a:lstStyle/>
          <a:p>
            <a:pPr algn="l"/>
            <a:r>
              <a:rPr sz="1050" b="0" i="0">
                <a:solidFill>
                  <a:srgbClr val="697289"/>
                </a:solidFill>
              </a:rPr>
              <a:t>OK/NG/対象外</a:t>
            </a:r>
          </a:p>
        </p:txBody>
      </p:sp>
      <p:sp>
        <p:nvSpPr>
          <p:cNvPr id="67" name="Rectangle 66"/>
          <p:cNvSpPr/>
          <p:nvPr/>
        </p:nvSpPr>
        <p:spPr>
          <a:xfrm>
            <a:off x="457200" y="4983480"/>
            <a:ext cx="2377440" cy="292608"/>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5010912"/>
            <a:ext cx="2240280" cy="237744"/>
          </a:xfrm>
          <a:prstGeom prst="rect">
            <a:avLst/>
          </a:prstGeom>
          <a:noFill/>
        </p:spPr>
        <p:txBody>
          <a:bodyPr wrap="square">
            <a:spAutoFit/>
          </a:bodyPr>
          <a:lstStyle/>
          <a:p>
            <a:pPr algn="l"/>
            <a:r>
              <a:rPr sz="1100" b="1" i="0">
                <a:solidFill>
                  <a:srgbClr val="FFFFFF"/>
                </a:solidFill>
              </a:rPr>
              <a:t>エビデンスとして保存するもの</a:t>
            </a:r>
          </a:p>
        </p:txBody>
      </p:sp>
      <p:sp>
        <p:nvSpPr>
          <p:cNvPr id="69" name="TextBox 68"/>
          <p:cNvSpPr txBox="1"/>
          <p:nvPr/>
        </p:nvSpPr>
        <p:spPr>
          <a:xfrm>
            <a:off x="594360" y="5349240"/>
            <a:ext cx="10972800" cy="274320"/>
          </a:xfrm>
          <a:prstGeom prst="rect">
            <a:avLst/>
          </a:prstGeom>
          <a:noFill/>
        </p:spPr>
        <p:txBody>
          <a:bodyPr wrap="square">
            <a:spAutoFit/>
          </a:bodyPr>
          <a:lstStyle/>
          <a:p>
            <a:pPr algn="l"/>
            <a:r>
              <a:rPr sz="1100" b="0" i="0">
                <a:solidFill>
                  <a:srgbClr val="161C2D"/>
                </a:solidFill>
              </a:rPr>
              <a:t>① 各コマンドの実行結果（スクリーンショット or テキスト貼り付け）</a:t>
            </a:r>
          </a:p>
        </p:txBody>
      </p:sp>
      <p:sp>
        <p:nvSpPr>
          <p:cNvPr id="70" name="TextBox 69"/>
          <p:cNvSpPr txBox="1"/>
          <p:nvPr/>
        </p:nvSpPr>
        <p:spPr>
          <a:xfrm>
            <a:off x="594360" y="5623559"/>
            <a:ext cx="10972800" cy="274320"/>
          </a:xfrm>
          <a:prstGeom prst="rect">
            <a:avLst/>
          </a:prstGeom>
          <a:noFill/>
        </p:spPr>
        <p:txBody>
          <a:bodyPr wrap="square">
            <a:spAutoFit/>
          </a:bodyPr>
          <a:lstStyle/>
          <a:p>
            <a:pPr algn="l"/>
            <a:r>
              <a:rPr sz="1100" b="0" i="0">
                <a:solidFill>
                  <a:srgbClr val="161C2D"/>
                </a:solidFill>
              </a:rPr>
              <a:t>② チェックリストの記入済みシート</a:t>
            </a:r>
          </a:p>
        </p:txBody>
      </p:sp>
      <p:sp>
        <p:nvSpPr>
          <p:cNvPr id="71" name="TextBox 70"/>
          <p:cNvSpPr txBox="1"/>
          <p:nvPr/>
        </p:nvSpPr>
        <p:spPr>
          <a:xfrm>
            <a:off x="594360" y="5897879"/>
            <a:ext cx="10972800" cy="274320"/>
          </a:xfrm>
          <a:prstGeom prst="rect">
            <a:avLst/>
          </a:prstGeom>
          <a:noFill/>
        </p:spPr>
        <p:txBody>
          <a:bodyPr wrap="square">
            <a:spAutoFit/>
          </a:bodyPr>
          <a:lstStyle/>
          <a:p>
            <a:pPr algn="l"/>
            <a:r>
              <a:rPr sz="1100" b="0" i="0">
                <a:solidFill>
                  <a:srgbClr val="161C2D"/>
                </a:solidFill>
              </a:rPr>
              <a:t>③ 確認日時・実施者・対向担当者の記録</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0058400" cy="594360"/>
          </a:xfrm>
          <a:prstGeom prst="rect">
            <a:avLst/>
          </a:prstGeom>
          <a:noFill/>
        </p:spPr>
        <p:txBody>
          <a:bodyPr wrap="square">
            <a:spAutoFit/>
          </a:bodyPr>
          <a:lstStyle/>
          <a:p>
            <a:pPr algn="l"/>
            <a:r>
              <a:rPr sz="2800" b="1" i="0">
                <a:solidFill>
                  <a:srgbClr val="FFFFFF"/>
                </a:solidFill>
              </a:rPr>
              <a:t>エラー発生時の対応</a:t>
            </a:r>
          </a:p>
        </p:txBody>
      </p:sp>
      <p:sp>
        <p:nvSpPr>
          <p:cNvPr id="5" name="TextBox 4"/>
          <p:cNvSpPr txBox="1"/>
          <p:nvPr/>
        </p:nvSpPr>
        <p:spPr>
          <a:xfrm>
            <a:off x="457200" y="713232"/>
            <a:ext cx="10058400" cy="384048"/>
          </a:xfrm>
          <a:prstGeom prst="rect">
            <a:avLst/>
          </a:prstGeom>
          <a:noFill/>
        </p:spPr>
        <p:txBody>
          <a:bodyPr wrap="square">
            <a:spAutoFit/>
          </a:bodyPr>
          <a:lstStyle/>
          <a:p>
            <a:pPr algn="l"/>
            <a:r>
              <a:rPr sz="1400" b="0" i="0">
                <a:solidFill>
                  <a:srgbClr val="C0CFFF"/>
                </a:solidFill>
              </a:rPr>
              <a:t>切り分けフロー・よくあるエラーコード</a:t>
            </a:r>
          </a:p>
        </p:txBody>
      </p:sp>
      <p:sp>
        <p:nvSpPr>
          <p:cNvPr id="6" name="Rectangle 5"/>
          <p:cNvSpPr/>
          <p:nvPr/>
        </p:nvSpPr>
        <p:spPr>
          <a:xfrm>
            <a:off x="0" y="1234440"/>
            <a:ext cx="12188952" cy="36576"/>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88952"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556248"/>
            <a:ext cx="10972800" cy="256032"/>
          </a:xfrm>
          <a:prstGeom prst="rect">
            <a:avLst/>
          </a:prstGeom>
          <a:noFill/>
        </p:spPr>
        <p:txBody>
          <a:bodyPr wrap="square">
            <a:spAutoFit/>
          </a:bodyPr>
          <a:lstStyle/>
          <a:p>
            <a:pPr algn="l"/>
            <a:r>
              <a:rPr sz="900" b="0" i="0">
                <a:solidFill>
                  <a:srgbClr val="B0BFFF"/>
                </a:solidFill>
              </a:rPr>
              <a:t>IBM MQ インフラ疎通確認  |  社外秘</a:t>
            </a:r>
          </a:p>
        </p:txBody>
      </p:sp>
      <p:sp>
        <p:nvSpPr>
          <p:cNvPr id="9" name="Rectangle 8"/>
          <p:cNvSpPr/>
          <p:nvPr/>
        </p:nvSpPr>
        <p:spPr>
          <a:xfrm>
            <a:off x="457200" y="1417320"/>
            <a:ext cx="2377440" cy="292608"/>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44752"/>
            <a:ext cx="2240280" cy="237744"/>
          </a:xfrm>
          <a:prstGeom prst="rect">
            <a:avLst/>
          </a:prstGeom>
          <a:noFill/>
        </p:spPr>
        <p:txBody>
          <a:bodyPr wrap="square">
            <a:spAutoFit/>
          </a:bodyPr>
          <a:lstStyle/>
          <a:p>
            <a:pPr algn="l"/>
            <a:r>
              <a:rPr sz="1100" b="1" i="0">
                <a:solidFill>
                  <a:srgbClr val="FFFFFF"/>
                </a:solidFill>
              </a:rPr>
              <a:t>切り分けフロー</a:t>
            </a:r>
          </a:p>
        </p:txBody>
      </p:sp>
      <p:sp>
        <p:nvSpPr>
          <p:cNvPr id="11" name="Rectangle 10"/>
          <p:cNvSpPr/>
          <p:nvPr/>
        </p:nvSpPr>
        <p:spPr>
          <a:xfrm>
            <a:off x="457200" y="1828800"/>
            <a:ext cx="2560320" cy="502920"/>
          </a:xfrm>
          <a:prstGeom prst="rect">
            <a:avLst/>
          </a:prstGeom>
          <a:solidFill>
            <a:srgbClr val="F05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74519"/>
            <a:ext cx="2377440" cy="411480"/>
          </a:xfrm>
          <a:prstGeom prst="rect">
            <a:avLst/>
          </a:prstGeom>
          <a:noFill/>
        </p:spPr>
        <p:txBody>
          <a:bodyPr wrap="square">
            <a:spAutoFit/>
          </a:bodyPr>
          <a:lstStyle/>
          <a:p>
            <a:pPr algn="l"/>
            <a:r>
              <a:rPr sz="1300" b="1" i="0">
                <a:solidFill>
                  <a:srgbClr val="FFFFFF"/>
                </a:solidFill>
              </a:rPr>
              <a:t>ping NG</a:t>
            </a:r>
          </a:p>
        </p:txBody>
      </p:sp>
      <p:sp>
        <p:nvSpPr>
          <p:cNvPr id="13" name="Rectangle 12"/>
          <p:cNvSpPr/>
          <p:nvPr/>
        </p:nvSpPr>
        <p:spPr>
          <a:xfrm>
            <a:off x="594360" y="2377440"/>
            <a:ext cx="2286000" cy="777240"/>
          </a:xfrm>
          <a:prstGeom prst="rect">
            <a:avLst/>
          </a:prstGeom>
          <a:solidFill>
            <a:srgbClr val="FFFFFF"/>
          </a:solidFill>
          <a:ln w="19050">
            <a:solidFill>
              <a:srgbClr val="F05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423160"/>
            <a:ext cx="2103120" cy="685800"/>
          </a:xfrm>
          <a:prstGeom prst="rect">
            <a:avLst/>
          </a:prstGeom>
          <a:noFill/>
        </p:spPr>
        <p:txBody>
          <a:bodyPr wrap="square">
            <a:spAutoFit/>
          </a:bodyPr>
          <a:lstStyle/>
          <a:p>
            <a:pPr algn="l"/>
            <a:r>
              <a:rPr sz="1100" b="0" i="0">
                <a:solidFill>
                  <a:srgbClr val="161C2D"/>
                </a:solidFill>
              </a:rPr>
              <a:t>→ ルーティング
FW確認</a:t>
            </a:r>
          </a:p>
        </p:txBody>
      </p:sp>
      <p:sp>
        <p:nvSpPr>
          <p:cNvPr id="15" name="TextBox 14"/>
          <p:cNvSpPr txBox="1"/>
          <p:nvPr/>
        </p:nvSpPr>
        <p:spPr>
          <a:xfrm>
            <a:off x="3035808" y="1947672"/>
            <a:ext cx="320040" cy="347472"/>
          </a:xfrm>
          <a:prstGeom prst="rect">
            <a:avLst/>
          </a:prstGeom>
          <a:noFill/>
        </p:spPr>
        <p:txBody>
          <a:bodyPr wrap="square">
            <a:spAutoFit/>
          </a:bodyPr>
          <a:lstStyle/>
          <a:p>
            <a:pPr algn="ctr"/>
            <a:r>
              <a:rPr sz="1400" b="0" i="0">
                <a:solidFill>
                  <a:srgbClr val="697289"/>
                </a:solidFill>
              </a:rPr>
              <a:t>▶</a:t>
            </a:r>
          </a:p>
        </p:txBody>
      </p:sp>
      <p:sp>
        <p:nvSpPr>
          <p:cNvPr id="16" name="Rectangle 15"/>
          <p:cNvSpPr/>
          <p:nvPr/>
        </p:nvSpPr>
        <p:spPr>
          <a:xfrm>
            <a:off x="3383280" y="1828800"/>
            <a:ext cx="2560320" cy="502920"/>
          </a:xfrm>
          <a:prstGeom prst="rect">
            <a:avLst/>
          </a:prstGeom>
          <a:solidFill>
            <a:srgbClr val="F08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874519"/>
            <a:ext cx="2377440" cy="411480"/>
          </a:xfrm>
          <a:prstGeom prst="rect">
            <a:avLst/>
          </a:prstGeom>
          <a:noFill/>
        </p:spPr>
        <p:txBody>
          <a:bodyPr wrap="square">
            <a:spAutoFit/>
          </a:bodyPr>
          <a:lstStyle/>
          <a:p>
            <a:pPr algn="l"/>
            <a:r>
              <a:rPr sz="1300" b="1" i="0">
                <a:solidFill>
                  <a:srgbClr val="FFFFFF"/>
                </a:solidFill>
              </a:rPr>
              <a:t>ポートNG</a:t>
            </a:r>
          </a:p>
        </p:txBody>
      </p:sp>
      <p:sp>
        <p:nvSpPr>
          <p:cNvPr id="18" name="Rectangle 17"/>
          <p:cNvSpPr/>
          <p:nvPr/>
        </p:nvSpPr>
        <p:spPr>
          <a:xfrm>
            <a:off x="3520440" y="2377440"/>
            <a:ext cx="2286000" cy="777240"/>
          </a:xfrm>
          <a:prstGeom prst="rect">
            <a:avLst/>
          </a:prstGeom>
          <a:solidFill>
            <a:srgbClr val="FFFFFF"/>
          </a:solidFill>
          <a:ln w="19050">
            <a:solidFill>
              <a:srgbClr val="F08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2423160"/>
            <a:ext cx="2103120" cy="685800"/>
          </a:xfrm>
          <a:prstGeom prst="rect">
            <a:avLst/>
          </a:prstGeom>
          <a:noFill/>
        </p:spPr>
        <p:txBody>
          <a:bodyPr wrap="square">
            <a:spAutoFit/>
          </a:bodyPr>
          <a:lstStyle/>
          <a:p>
            <a:pPr algn="l"/>
            <a:r>
              <a:rPr sz="1100" b="0" i="0">
                <a:solidFill>
                  <a:srgbClr val="161C2D"/>
                </a:solidFill>
              </a:rPr>
              <a:t>→ リスナー起動
FW開放確認</a:t>
            </a:r>
          </a:p>
        </p:txBody>
      </p:sp>
      <p:sp>
        <p:nvSpPr>
          <p:cNvPr id="20" name="TextBox 19"/>
          <p:cNvSpPr txBox="1"/>
          <p:nvPr/>
        </p:nvSpPr>
        <p:spPr>
          <a:xfrm>
            <a:off x="5961888" y="1947672"/>
            <a:ext cx="320040" cy="347472"/>
          </a:xfrm>
          <a:prstGeom prst="rect">
            <a:avLst/>
          </a:prstGeom>
          <a:noFill/>
        </p:spPr>
        <p:txBody>
          <a:bodyPr wrap="square">
            <a:spAutoFit/>
          </a:bodyPr>
          <a:lstStyle/>
          <a:p>
            <a:pPr algn="ctr"/>
            <a:r>
              <a:rPr sz="1400" b="0" i="0">
                <a:solidFill>
                  <a:srgbClr val="697289"/>
                </a:solidFill>
              </a:rPr>
              <a:t>▶</a:t>
            </a:r>
          </a:p>
        </p:txBody>
      </p:sp>
      <p:sp>
        <p:nvSpPr>
          <p:cNvPr id="21" name="Rectangle 20"/>
          <p:cNvSpPr/>
          <p:nvPr/>
        </p:nvSpPr>
        <p:spPr>
          <a:xfrm>
            <a:off x="6309360" y="1828800"/>
            <a:ext cx="2560320" cy="502920"/>
          </a:xfrm>
          <a:prstGeom prst="rect">
            <a:avLst/>
          </a:prstGeom>
          <a:solidFill>
            <a:srgbClr val="F1C2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874519"/>
            <a:ext cx="2377440" cy="411480"/>
          </a:xfrm>
          <a:prstGeom prst="rect">
            <a:avLst/>
          </a:prstGeom>
          <a:noFill/>
        </p:spPr>
        <p:txBody>
          <a:bodyPr wrap="square">
            <a:spAutoFit/>
          </a:bodyPr>
          <a:lstStyle/>
          <a:p>
            <a:pPr algn="l"/>
            <a:r>
              <a:rPr sz="1300" b="1" i="0">
                <a:solidFill>
                  <a:srgbClr val="FFFFFF"/>
                </a:solidFill>
              </a:rPr>
              <a:t>Channel NG</a:t>
            </a:r>
          </a:p>
        </p:txBody>
      </p:sp>
      <p:sp>
        <p:nvSpPr>
          <p:cNvPr id="23" name="Rectangle 22"/>
          <p:cNvSpPr/>
          <p:nvPr/>
        </p:nvSpPr>
        <p:spPr>
          <a:xfrm>
            <a:off x="6446520" y="2377440"/>
            <a:ext cx="2286000" cy="777240"/>
          </a:xfrm>
          <a:prstGeom prst="rect">
            <a:avLst/>
          </a:prstGeom>
          <a:solidFill>
            <a:srgbClr val="FFFFFF"/>
          </a:solidFill>
          <a:ln w="19050">
            <a:solidFill>
              <a:srgbClr val="F1C2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423160"/>
            <a:ext cx="2103120" cy="685800"/>
          </a:xfrm>
          <a:prstGeom prst="rect">
            <a:avLst/>
          </a:prstGeom>
          <a:noFill/>
        </p:spPr>
        <p:txBody>
          <a:bodyPr wrap="square">
            <a:spAutoFit/>
          </a:bodyPr>
          <a:lstStyle/>
          <a:p>
            <a:pPr algn="l"/>
            <a:r>
              <a:rPr sz="1100" b="0" i="0">
                <a:solidFill>
                  <a:srgbClr val="161C2D"/>
                </a:solidFill>
              </a:rPr>
              <a:t>→ Channel名・
TLS設定確認</a:t>
            </a:r>
          </a:p>
        </p:txBody>
      </p:sp>
      <p:sp>
        <p:nvSpPr>
          <p:cNvPr id="25" name="TextBox 24"/>
          <p:cNvSpPr txBox="1"/>
          <p:nvPr/>
        </p:nvSpPr>
        <p:spPr>
          <a:xfrm>
            <a:off x="8887968" y="1947672"/>
            <a:ext cx="320040" cy="347472"/>
          </a:xfrm>
          <a:prstGeom prst="rect">
            <a:avLst/>
          </a:prstGeom>
          <a:noFill/>
        </p:spPr>
        <p:txBody>
          <a:bodyPr wrap="square">
            <a:spAutoFit/>
          </a:bodyPr>
          <a:lstStyle/>
          <a:p>
            <a:pPr algn="ctr"/>
            <a:r>
              <a:rPr sz="1400" b="0" i="0">
                <a:solidFill>
                  <a:srgbClr val="697289"/>
                </a:solidFill>
              </a:rPr>
              <a:t>▶</a:t>
            </a:r>
          </a:p>
        </p:txBody>
      </p:sp>
      <p:sp>
        <p:nvSpPr>
          <p:cNvPr id="26" name="Rectangle 25"/>
          <p:cNvSpPr/>
          <p:nvPr/>
        </p:nvSpPr>
        <p:spPr>
          <a:xfrm>
            <a:off x="9235440" y="1828800"/>
            <a:ext cx="2560320" cy="502920"/>
          </a:xfrm>
          <a:prstGeom prst="rect">
            <a:avLst/>
          </a:prstGeom>
          <a:solidFill>
            <a:srgbClr val="24A1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1874519"/>
            <a:ext cx="2377440" cy="411480"/>
          </a:xfrm>
          <a:prstGeom prst="rect">
            <a:avLst/>
          </a:prstGeom>
          <a:noFill/>
        </p:spPr>
        <p:txBody>
          <a:bodyPr wrap="square">
            <a:spAutoFit/>
          </a:bodyPr>
          <a:lstStyle/>
          <a:p>
            <a:pPr algn="l"/>
            <a:r>
              <a:rPr sz="1300" b="1" i="0">
                <a:solidFill>
                  <a:srgbClr val="FFFFFF"/>
                </a:solidFill>
              </a:rPr>
              <a:t>メッセージNG</a:t>
            </a:r>
          </a:p>
        </p:txBody>
      </p:sp>
      <p:sp>
        <p:nvSpPr>
          <p:cNvPr id="28" name="Rectangle 27"/>
          <p:cNvSpPr/>
          <p:nvPr/>
        </p:nvSpPr>
        <p:spPr>
          <a:xfrm>
            <a:off x="9372600" y="2377440"/>
            <a:ext cx="2286000" cy="777240"/>
          </a:xfrm>
          <a:prstGeom prst="rect">
            <a:avLst/>
          </a:prstGeom>
          <a:solidFill>
            <a:srgbClr val="FFFFFF"/>
          </a:solidFill>
          <a:ln w="19050">
            <a:solidFill>
              <a:srgbClr val="24A1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0" y="2423160"/>
            <a:ext cx="2103120" cy="685800"/>
          </a:xfrm>
          <a:prstGeom prst="rect">
            <a:avLst/>
          </a:prstGeom>
          <a:noFill/>
        </p:spPr>
        <p:txBody>
          <a:bodyPr wrap="square">
            <a:spAutoFit/>
          </a:bodyPr>
          <a:lstStyle/>
          <a:p>
            <a:pPr algn="l"/>
            <a:r>
              <a:rPr sz="1100" b="0" i="0">
                <a:solidFill>
                  <a:srgbClr val="161C2D"/>
                </a:solidFill>
              </a:rPr>
              <a:t>→ Queue名・
権限確認</a:t>
            </a:r>
          </a:p>
        </p:txBody>
      </p:sp>
      <p:sp>
        <p:nvSpPr>
          <p:cNvPr id="30" name="Rectangle 29"/>
          <p:cNvSpPr/>
          <p:nvPr/>
        </p:nvSpPr>
        <p:spPr>
          <a:xfrm>
            <a:off x="457200" y="3337560"/>
            <a:ext cx="2377440" cy="292608"/>
          </a:xfrm>
          <a:prstGeom prst="rect">
            <a:avLst/>
          </a:prstGeom>
          <a:solidFill>
            <a:srgbClr val="006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364991"/>
            <a:ext cx="2240280" cy="237744"/>
          </a:xfrm>
          <a:prstGeom prst="rect">
            <a:avLst/>
          </a:prstGeom>
          <a:noFill/>
        </p:spPr>
        <p:txBody>
          <a:bodyPr wrap="square">
            <a:spAutoFit/>
          </a:bodyPr>
          <a:lstStyle/>
          <a:p>
            <a:pPr algn="l"/>
            <a:r>
              <a:rPr sz="1100" b="1" i="0">
                <a:solidFill>
                  <a:srgbClr val="FFFFFF"/>
                </a:solidFill>
              </a:rPr>
              <a:t>よくあるエラーコード</a:t>
            </a:r>
          </a:p>
        </p:txBody>
      </p:sp>
      <p:sp>
        <p:nvSpPr>
          <p:cNvPr id="32" name="Rectangle 31"/>
          <p:cNvSpPr/>
          <p:nvPr/>
        </p:nvSpPr>
        <p:spPr>
          <a:xfrm>
            <a:off x="457200" y="3703320"/>
            <a:ext cx="1645920"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739896"/>
            <a:ext cx="1508760" cy="256032"/>
          </a:xfrm>
          <a:prstGeom prst="rect">
            <a:avLst/>
          </a:prstGeom>
          <a:noFill/>
        </p:spPr>
        <p:txBody>
          <a:bodyPr wrap="square">
            <a:spAutoFit/>
          </a:bodyPr>
          <a:lstStyle/>
          <a:p>
            <a:pPr algn="l"/>
            <a:r>
              <a:rPr sz="1000" b="1" i="0">
                <a:solidFill>
                  <a:srgbClr val="FFFFFF"/>
                </a:solidFill>
              </a:rPr>
              <a:t>エラーコード</a:t>
            </a:r>
          </a:p>
        </p:txBody>
      </p:sp>
      <p:sp>
        <p:nvSpPr>
          <p:cNvPr id="34" name="Rectangle 33"/>
          <p:cNvSpPr/>
          <p:nvPr/>
        </p:nvSpPr>
        <p:spPr>
          <a:xfrm>
            <a:off x="2103120" y="3703320"/>
            <a:ext cx="2926080"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94560" y="3739896"/>
            <a:ext cx="2788920" cy="256032"/>
          </a:xfrm>
          <a:prstGeom prst="rect">
            <a:avLst/>
          </a:prstGeom>
          <a:noFill/>
        </p:spPr>
        <p:txBody>
          <a:bodyPr wrap="square">
            <a:spAutoFit/>
          </a:bodyPr>
          <a:lstStyle/>
          <a:p>
            <a:pPr algn="l"/>
            <a:r>
              <a:rPr sz="1000" b="1" i="0">
                <a:solidFill>
                  <a:srgbClr val="FFFFFF"/>
                </a:solidFill>
              </a:rPr>
              <a:t>メッセージ概要</a:t>
            </a:r>
          </a:p>
        </p:txBody>
      </p:sp>
      <p:sp>
        <p:nvSpPr>
          <p:cNvPr id="36" name="Rectangle 35"/>
          <p:cNvSpPr/>
          <p:nvPr/>
        </p:nvSpPr>
        <p:spPr>
          <a:xfrm>
            <a:off x="5029200" y="3703320"/>
            <a:ext cx="3200400"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20640" y="3739896"/>
            <a:ext cx="3063240" cy="256032"/>
          </a:xfrm>
          <a:prstGeom prst="rect">
            <a:avLst/>
          </a:prstGeom>
          <a:noFill/>
        </p:spPr>
        <p:txBody>
          <a:bodyPr wrap="square">
            <a:spAutoFit/>
          </a:bodyPr>
          <a:lstStyle/>
          <a:p>
            <a:pPr algn="l"/>
            <a:r>
              <a:rPr sz="1000" b="1" i="0">
                <a:solidFill>
                  <a:srgbClr val="FFFFFF"/>
                </a:solidFill>
              </a:rPr>
              <a:t>主な原因</a:t>
            </a:r>
          </a:p>
        </p:txBody>
      </p:sp>
      <p:sp>
        <p:nvSpPr>
          <p:cNvPr id="38" name="Rectangle 37"/>
          <p:cNvSpPr/>
          <p:nvPr/>
        </p:nvSpPr>
        <p:spPr>
          <a:xfrm>
            <a:off x="8229600" y="3703320"/>
            <a:ext cx="3657600" cy="320040"/>
          </a:xfrm>
          <a:prstGeom prst="rect">
            <a:avLst/>
          </a:prstGeom>
          <a:solidFill>
            <a:srgbClr val="052F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21040" y="3739896"/>
            <a:ext cx="3520440" cy="256032"/>
          </a:xfrm>
          <a:prstGeom prst="rect">
            <a:avLst/>
          </a:prstGeom>
          <a:noFill/>
        </p:spPr>
        <p:txBody>
          <a:bodyPr wrap="square">
            <a:spAutoFit/>
          </a:bodyPr>
          <a:lstStyle/>
          <a:p>
            <a:pPr algn="l"/>
            <a:r>
              <a:rPr sz="1000" b="1" i="0">
                <a:solidFill>
                  <a:srgbClr val="FFFFFF"/>
                </a:solidFill>
              </a:rPr>
              <a:t>対処</a:t>
            </a:r>
          </a:p>
        </p:txBody>
      </p:sp>
      <p:sp>
        <p:nvSpPr>
          <p:cNvPr id="40" name="Rectangle 39"/>
          <p:cNvSpPr/>
          <p:nvPr/>
        </p:nvSpPr>
        <p:spPr>
          <a:xfrm>
            <a:off x="457200" y="4023359"/>
            <a:ext cx="164592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4069079"/>
            <a:ext cx="1508760" cy="274320"/>
          </a:xfrm>
          <a:prstGeom prst="rect">
            <a:avLst/>
          </a:prstGeom>
          <a:noFill/>
        </p:spPr>
        <p:txBody>
          <a:bodyPr wrap="square">
            <a:spAutoFit/>
          </a:bodyPr>
          <a:lstStyle/>
          <a:p>
            <a:pPr algn="l"/>
            <a:r>
              <a:rPr sz="950" b="0" i="0">
                <a:solidFill>
                  <a:srgbClr val="161C2D"/>
                </a:solidFill>
              </a:rPr>
              <a:t>AMQ9204</a:t>
            </a:r>
          </a:p>
        </p:txBody>
      </p:sp>
      <p:sp>
        <p:nvSpPr>
          <p:cNvPr id="42" name="Rectangle 41"/>
          <p:cNvSpPr/>
          <p:nvPr/>
        </p:nvSpPr>
        <p:spPr>
          <a:xfrm>
            <a:off x="2103120" y="4023359"/>
            <a:ext cx="292608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94560" y="4069079"/>
            <a:ext cx="2788920" cy="274320"/>
          </a:xfrm>
          <a:prstGeom prst="rect">
            <a:avLst/>
          </a:prstGeom>
          <a:noFill/>
        </p:spPr>
        <p:txBody>
          <a:bodyPr wrap="square">
            <a:spAutoFit/>
          </a:bodyPr>
          <a:lstStyle/>
          <a:p>
            <a:pPr algn="l"/>
            <a:r>
              <a:rPr sz="950" b="0" i="0">
                <a:solidFill>
                  <a:srgbClr val="161C2D"/>
                </a:solidFill>
              </a:rPr>
              <a:t>Connection refused</a:t>
            </a:r>
          </a:p>
        </p:txBody>
      </p:sp>
      <p:sp>
        <p:nvSpPr>
          <p:cNvPr id="44" name="Rectangle 43"/>
          <p:cNvSpPr/>
          <p:nvPr/>
        </p:nvSpPr>
        <p:spPr>
          <a:xfrm>
            <a:off x="5029200" y="4023359"/>
            <a:ext cx="320040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069079"/>
            <a:ext cx="3063240" cy="274320"/>
          </a:xfrm>
          <a:prstGeom prst="rect">
            <a:avLst/>
          </a:prstGeom>
          <a:noFill/>
        </p:spPr>
        <p:txBody>
          <a:bodyPr wrap="square">
            <a:spAutoFit/>
          </a:bodyPr>
          <a:lstStyle/>
          <a:p>
            <a:pPr algn="l"/>
            <a:r>
              <a:rPr sz="950" b="0" i="0">
                <a:solidFill>
                  <a:srgbClr val="161C2D"/>
                </a:solidFill>
              </a:rPr>
              <a:t>ポート未開放 / リスナー未起動</a:t>
            </a:r>
          </a:p>
        </p:txBody>
      </p:sp>
      <p:sp>
        <p:nvSpPr>
          <p:cNvPr id="46" name="Rectangle 45"/>
          <p:cNvSpPr/>
          <p:nvPr/>
        </p:nvSpPr>
        <p:spPr>
          <a:xfrm>
            <a:off x="8229600" y="4023359"/>
            <a:ext cx="365760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4069079"/>
            <a:ext cx="3520440" cy="274320"/>
          </a:xfrm>
          <a:prstGeom prst="rect">
            <a:avLst/>
          </a:prstGeom>
          <a:noFill/>
        </p:spPr>
        <p:txBody>
          <a:bodyPr wrap="square">
            <a:spAutoFit/>
          </a:bodyPr>
          <a:lstStyle/>
          <a:p>
            <a:pPr algn="l"/>
            <a:r>
              <a:rPr sz="950" b="0" i="0">
                <a:solidFill>
                  <a:srgbClr val="161C2D"/>
                </a:solidFill>
              </a:rPr>
              <a:t>FW開放・リスナー起動確認</a:t>
            </a:r>
          </a:p>
        </p:txBody>
      </p:sp>
      <p:sp>
        <p:nvSpPr>
          <p:cNvPr id="48" name="Rectangle 47"/>
          <p:cNvSpPr/>
          <p:nvPr/>
        </p:nvSpPr>
        <p:spPr>
          <a:xfrm>
            <a:off x="457200" y="4370831"/>
            <a:ext cx="164592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4416551"/>
            <a:ext cx="1508760" cy="274320"/>
          </a:xfrm>
          <a:prstGeom prst="rect">
            <a:avLst/>
          </a:prstGeom>
          <a:noFill/>
        </p:spPr>
        <p:txBody>
          <a:bodyPr wrap="square">
            <a:spAutoFit/>
          </a:bodyPr>
          <a:lstStyle/>
          <a:p>
            <a:pPr algn="l"/>
            <a:r>
              <a:rPr sz="950" b="0" i="0">
                <a:solidFill>
                  <a:srgbClr val="161C2D"/>
                </a:solidFill>
              </a:rPr>
              <a:t>AMQ9213</a:t>
            </a:r>
          </a:p>
        </p:txBody>
      </p:sp>
      <p:sp>
        <p:nvSpPr>
          <p:cNvPr id="50" name="Rectangle 49"/>
          <p:cNvSpPr/>
          <p:nvPr/>
        </p:nvSpPr>
        <p:spPr>
          <a:xfrm>
            <a:off x="2103120" y="4370831"/>
            <a:ext cx="292608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194560" y="4416551"/>
            <a:ext cx="2788920" cy="274320"/>
          </a:xfrm>
          <a:prstGeom prst="rect">
            <a:avLst/>
          </a:prstGeom>
          <a:noFill/>
        </p:spPr>
        <p:txBody>
          <a:bodyPr wrap="square">
            <a:spAutoFit/>
          </a:bodyPr>
          <a:lstStyle/>
          <a:p>
            <a:pPr algn="l"/>
            <a:r>
              <a:rPr sz="950" b="0" i="0">
                <a:solidFill>
                  <a:srgbClr val="161C2D"/>
                </a:solidFill>
              </a:rPr>
              <a:t>Channel name error</a:t>
            </a:r>
          </a:p>
        </p:txBody>
      </p:sp>
      <p:sp>
        <p:nvSpPr>
          <p:cNvPr id="52" name="Rectangle 51"/>
          <p:cNvSpPr/>
          <p:nvPr/>
        </p:nvSpPr>
        <p:spPr>
          <a:xfrm>
            <a:off x="5029200" y="4370831"/>
            <a:ext cx="320040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120640" y="4416551"/>
            <a:ext cx="3063240" cy="274320"/>
          </a:xfrm>
          <a:prstGeom prst="rect">
            <a:avLst/>
          </a:prstGeom>
          <a:noFill/>
        </p:spPr>
        <p:txBody>
          <a:bodyPr wrap="square">
            <a:spAutoFit/>
          </a:bodyPr>
          <a:lstStyle/>
          <a:p>
            <a:pPr algn="l"/>
            <a:r>
              <a:rPr sz="950" b="0" i="0">
                <a:solidFill>
                  <a:srgbClr val="161C2D"/>
                </a:solidFill>
              </a:rPr>
              <a:t>Channel名の不一致</a:t>
            </a:r>
          </a:p>
        </p:txBody>
      </p:sp>
      <p:sp>
        <p:nvSpPr>
          <p:cNvPr id="54" name="Rectangle 53"/>
          <p:cNvSpPr/>
          <p:nvPr/>
        </p:nvSpPr>
        <p:spPr>
          <a:xfrm>
            <a:off x="8229600" y="4370831"/>
            <a:ext cx="365760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21040" y="4416551"/>
            <a:ext cx="3520440" cy="274320"/>
          </a:xfrm>
          <a:prstGeom prst="rect">
            <a:avLst/>
          </a:prstGeom>
          <a:noFill/>
        </p:spPr>
        <p:txBody>
          <a:bodyPr wrap="square">
            <a:spAutoFit/>
          </a:bodyPr>
          <a:lstStyle/>
          <a:p>
            <a:pPr algn="l"/>
            <a:r>
              <a:rPr sz="950" b="0" i="0">
                <a:solidFill>
                  <a:srgbClr val="161C2D"/>
                </a:solidFill>
              </a:rPr>
              <a:t>対向に正式名称を再確認</a:t>
            </a:r>
          </a:p>
        </p:txBody>
      </p:sp>
      <p:sp>
        <p:nvSpPr>
          <p:cNvPr id="56" name="Rectangle 55"/>
          <p:cNvSpPr/>
          <p:nvPr/>
        </p:nvSpPr>
        <p:spPr>
          <a:xfrm>
            <a:off x="457200" y="4718303"/>
            <a:ext cx="164592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4764023"/>
            <a:ext cx="1508760" cy="274320"/>
          </a:xfrm>
          <a:prstGeom prst="rect">
            <a:avLst/>
          </a:prstGeom>
          <a:noFill/>
        </p:spPr>
        <p:txBody>
          <a:bodyPr wrap="square">
            <a:spAutoFit/>
          </a:bodyPr>
          <a:lstStyle/>
          <a:p>
            <a:pPr algn="l"/>
            <a:r>
              <a:rPr sz="950" b="0" i="0">
                <a:solidFill>
                  <a:srgbClr val="161C2D"/>
                </a:solidFill>
              </a:rPr>
              <a:t>AMQ9503</a:t>
            </a:r>
          </a:p>
        </p:txBody>
      </p:sp>
      <p:sp>
        <p:nvSpPr>
          <p:cNvPr id="58" name="Rectangle 57"/>
          <p:cNvSpPr/>
          <p:nvPr/>
        </p:nvSpPr>
        <p:spPr>
          <a:xfrm>
            <a:off x="2103120" y="4718303"/>
            <a:ext cx="292608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194560" y="4764023"/>
            <a:ext cx="2788920" cy="274320"/>
          </a:xfrm>
          <a:prstGeom prst="rect">
            <a:avLst/>
          </a:prstGeom>
          <a:noFill/>
        </p:spPr>
        <p:txBody>
          <a:bodyPr wrap="square">
            <a:spAutoFit/>
          </a:bodyPr>
          <a:lstStyle/>
          <a:p>
            <a:pPr algn="l"/>
            <a:r>
              <a:rPr sz="950" b="0" i="0">
                <a:solidFill>
                  <a:srgbClr val="161C2D"/>
                </a:solidFill>
              </a:rPr>
              <a:t>Channel stopped</a:t>
            </a:r>
          </a:p>
        </p:txBody>
      </p:sp>
      <p:sp>
        <p:nvSpPr>
          <p:cNvPr id="60" name="Rectangle 59"/>
          <p:cNvSpPr/>
          <p:nvPr/>
        </p:nvSpPr>
        <p:spPr>
          <a:xfrm>
            <a:off x="5029200" y="4718303"/>
            <a:ext cx="320040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120640" y="4764023"/>
            <a:ext cx="3063240" cy="274320"/>
          </a:xfrm>
          <a:prstGeom prst="rect">
            <a:avLst/>
          </a:prstGeom>
          <a:noFill/>
        </p:spPr>
        <p:txBody>
          <a:bodyPr wrap="square">
            <a:spAutoFit/>
          </a:bodyPr>
          <a:lstStyle/>
          <a:p>
            <a:pPr algn="l"/>
            <a:r>
              <a:rPr sz="950" b="0" i="0">
                <a:solidFill>
                  <a:srgbClr val="161C2D"/>
                </a:solidFill>
              </a:rPr>
              <a:t>TLS設定の不一致</a:t>
            </a:r>
          </a:p>
        </p:txBody>
      </p:sp>
      <p:sp>
        <p:nvSpPr>
          <p:cNvPr id="62" name="Rectangle 61"/>
          <p:cNvSpPr/>
          <p:nvPr/>
        </p:nvSpPr>
        <p:spPr>
          <a:xfrm>
            <a:off x="8229600" y="4718303"/>
            <a:ext cx="365760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21040" y="4764023"/>
            <a:ext cx="3520440" cy="274320"/>
          </a:xfrm>
          <a:prstGeom prst="rect">
            <a:avLst/>
          </a:prstGeom>
          <a:noFill/>
        </p:spPr>
        <p:txBody>
          <a:bodyPr wrap="square">
            <a:spAutoFit/>
          </a:bodyPr>
          <a:lstStyle/>
          <a:p>
            <a:pPr algn="l"/>
            <a:r>
              <a:rPr sz="950" b="0" i="0">
                <a:solidFill>
                  <a:srgbClr val="161C2D"/>
                </a:solidFill>
              </a:rPr>
              <a:t>Cipher Suite を対向と合わせる</a:t>
            </a:r>
          </a:p>
        </p:txBody>
      </p:sp>
      <p:sp>
        <p:nvSpPr>
          <p:cNvPr id="64" name="Rectangle 63"/>
          <p:cNvSpPr/>
          <p:nvPr/>
        </p:nvSpPr>
        <p:spPr>
          <a:xfrm>
            <a:off x="457200" y="5065775"/>
            <a:ext cx="164592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5111495"/>
            <a:ext cx="1508760" cy="274320"/>
          </a:xfrm>
          <a:prstGeom prst="rect">
            <a:avLst/>
          </a:prstGeom>
          <a:noFill/>
        </p:spPr>
        <p:txBody>
          <a:bodyPr wrap="square">
            <a:spAutoFit/>
          </a:bodyPr>
          <a:lstStyle/>
          <a:p>
            <a:pPr algn="l"/>
            <a:r>
              <a:rPr sz="950" b="0" i="0">
                <a:solidFill>
                  <a:srgbClr val="161C2D"/>
                </a:solidFill>
              </a:rPr>
              <a:t>AMQ2035</a:t>
            </a:r>
          </a:p>
        </p:txBody>
      </p:sp>
      <p:sp>
        <p:nvSpPr>
          <p:cNvPr id="66" name="Rectangle 65"/>
          <p:cNvSpPr/>
          <p:nvPr/>
        </p:nvSpPr>
        <p:spPr>
          <a:xfrm>
            <a:off x="2103120" y="5065775"/>
            <a:ext cx="292608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94560" y="5111495"/>
            <a:ext cx="2788920" cy="274320"/>
          </a:xfrm>
          <a:prstGeom prst="rect">
            <a:avLst/>
          </a:prstGeom>
          <a:noFill/>
        </p:spPr>
        <p:txBody>
          <a:bodyPr wrap="square">
            <a:spAutoFit/>
          </a:bodyPr>
          <a:lstStyle/>
          <a:p>
            <a:pPr algn="l"/>
            <a:r>
              <a:rPr sz="950" b="0" i="0">
                <a:solidFill>
                  <a:srgbClr val="161C2D"/>
                </a:solidFill>
              </a:rPr>
              <a:t>Not authorized</a:t>
            </a:r>
          </a:p>
        </p:txBody>
      </p:sp>
      <p:sp>
        <p:nvSpPr>
          <p:cNvPr id="68" name="Rectangle 67"/>
          <p:cNvSpPr/>
          <p:nvPr/>
        </p:nvSpPr>
        <p:spPr>
          <a:xfrm>
            <a:off x="5029200" y="5065775"/>
            <a:ext cx="320040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120640" y="5111495"/>
            <a:ext cx="3063240" cy="274320"/>
          </a:xfrm>
          <a:prstGeom prst="rect">
            <a:avLst/>
          </a:prstGeom>
          <a:noFill/>
        </p:spPr>
        <p:txBody>
          <a:bodyPr wrap="square">
            <a:spAutoFit/>
          </a:bodyPr>
          <a:lstStyle/>
          <a:p>
            <a:pPr algn="l"/>
            <a:r>
              <a:rPr sz="950" b="0" i="0">
                <a:solidFill>
                  <a:srgbClr val="161C2D"/>
                </a:solidFill>
              </a:rPr>
              <a:t>認証エラー（ID/PW等）</a:t>
            </a:r>
          </a:p>
        </p:txBody>
      </p:sp>
      <p:sp>
        <p:nvSpPr>
          <p:cNvPr id="70" name="Rectangle 69"/>
          <p:cNvSpPr/>
          <p:nvPr/>
        </p:nvSpPr>
        <p:spPr>
          <a:xfrm>
            <a:off x="8229600" y="5065775"/>
            <a:ext cx="3657600" cy="347472"/>
          </a:xfrm>
          <a:prstGeom prst="rect">
            <a:avLst/>
          </a:prstGeom>
          <a:solidFill>
            <a:srgbClr val="E8ECF5"/>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321040" y="5111495"/>
            <a:ext cx="3520440" cy="274320"/>
          </a:xfrm>
          <a:prstGeom prst="rect">
            <a:avLst/>
          </a:prstGeom>
          <a:noFill/>
        </p:spPr>
        <p:txBody>
          <a:bodyPr wrap="square">
            <a:spAutoFit/>
          </a:bodyPr>
          <a:lstStyle/>
          <a:p>
            <a:pPr algn="l"/>
            <a:r>
              <a:rPr sz="950" b="0" i="0">
                <a:solidFill>
                  <a:srgbClr val="161C2D"/>
                </a:solidFill>
              </a:rPr>
              <a:t>MCA認証設定を確認</a:t>
            </a:r>
          </a:p>
        </p:txBody>
      </p:sp>
      <p:sp>
        <p:nvSpPr>
          <p:cNvPr id="72" name="Rectangle 71"/>
          <p:cNvSpPr/>
          <p:nvPr/>
        </p:nvSpPr>
        <p:spPr>
          <a:xfrm>
            <a:off x="457200" y="5413248"/>
            <a:ext cx="164592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5458968"/>
            <a:ext cx="1508760" cy="274320"/>
          </a:xfrm>
          <a:prstGeom prst="rect">
            <a:avLst/>
          </a:prstGeom>
          <a:noFill/>
        </p:spPr>
        <p:txBody>
          <a:bodyPr wrap="square">
            <a:spAutoFit/>
          </a:bodyPr>
          <a:lstStyle/>
          <a:p>
            <a:pPr algn="l"/>
            <a:r>
              <a:rPr sz="950" b="0" i="0">
                <a:solidFill>
                  <a:srgbClr val="161C2D"/>
                </a:solidFill>
              </a:rPr>
              <a:t>AMQ9999</a:t>
            </a:r>
          </a:p>
        </p:txBody>
      </p:sp>
      <p:sp>
        <p:nvSpPr>
          <p:cNvPr id="74" name="Rectangle 73"/>
          <p:cNvSpPr/>
          <p:nvPr/>
        </p:nvSpPr>
        <p:spPr>
          <a:xfrm>
            <a:off x="2103120" y="5413248"/>
            <a:ext cx="292608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194560" y="5458968"/>
            <a:ext cx="2788920" cy="274320"/>
          </a:xfrm>
          <a:prstGeom prst="rect">
            <a:avLst/>
          </a:prstGeom>
          <a:noFill/>
        </p:spPr>
        <p:txBody>
          <a:bodyPr wrap="square">
            <a:spAutoFit/>
          </a:bodyPr>
          <a:lstStyle/>
          <a:p>
            <a:pPr algn="l"/>
            <a:r>
              <a:rPr sz="950" b="0" i="0">
                <a:solidFill>
                  <a:srgbClr val="161C2D"/>
                </a:solidFill>
              </a:rPr>
              <a:t>Channel ended abnormally</a:t>
            </a:r>
          </a:p>
        </p:txBody>
      </p:sp>
      <p:sp>
        <p:nvSpPr>
          <p:cNvPr id="76" name="Rectangle 75"/>
          <p:cNvSpPr/>
          <p:nvPr/>
        </p:nvSpPr>
        <p:spPr>
          <a:xfrm>
            <a:off x="5029200" y="5413248"/>
            <a:ext cx="320040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20640" y="5458968"/>
            <a:ext cx="3063240" cy="274320"/>
          </a:xfrm>
          <a:prstGeom prst="rect">
            <a:avLst/>
          </a:prstGeom>
          <a:noFill/>
        </p:spPr>
        <p:txBody>
          <a:bodyPr wrap="square">
            <a:spAutoFit/>
          </a:bodyPr>
          <a:lstStyle/>
          <a:p>
            <a:pPr algn="l"/>
            <a:r>
              <a:rPr sz="950" b="0" i="0">
                <a:solidFill>
                  <a:srgbClr val="161C2D"/>
                </a:solidFill>
              </a:rPr>
              <a:t>一般エラー</a:t>
            </a:r>
          </a:p>
        </p:txBody>
      </p:sp>
      <p:sp>
        <p:nvSpPr>
          <p:cNvPr id="78" name="Rectangle 77"/>
          <p:cNvSpPr/>
          <p:nvPr/>
        </p:nvSpPr>
        <p:spPr>
          <a:xfrm>
            <a:off x="8229600" y="5413248"/>
            <a:ext cx="3657600" cy="347472"/>
          </a:xfrm>
          <a:prstGeom prst="rect">
            <a:avLst/>
          </a:prstGeom>
          <a:solidFill>
            <a:srgbClr val="FFFFFF"/>
          </a:solidFill>
          <a:ln w="6350">
            <a:solidFill>
              <a:srgbClr val="E8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21040" y="5458968"/>
            <a:ext cx="3520440" cy="274320"/>
          </a:xfrm>
          <a:prstGeom prst="rect">
            <a:avLst/>
          </a:prstGeom>
          <a:noFill/>
        </p:spPr>
        <p:txBody>
          <a:bodyPr wrap="square">
            <a:spAutoFit/>
          </a:bodyPr>
          <a:lstStyle/>
          <a:p>
            <a:pPr algn="l"/>
            <a:r>
              <a:rPr sz="950" b="0" i="0">
                <a:solidFill>
                  <a:srgbClr val="161C2D"/>
                </a:solidFill>
              </a:rPr>
              <a:t>/var/mqm/errors/ のログを確認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